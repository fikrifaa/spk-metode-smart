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Montserrat Bold" charset="1" panose="00000800000000000000"/>
      <p:regular r:id="rId22"/>
    </p:embeddedFont>
    <p:embeddedFont>
      <p:font typeface="Canva Sans Bold" charset="1" panose="020B0803030501040103"/>
      <p:regular r:id="rId23"/>
    </p:embeddedFont>
    <p:embeddedFont>
      <p:font typeface="Montserrat" charset="1" panose="00000500000000000000"/>
      <p:regular r:id="rId24"/>
    </p:embeddedFont>
    <p:embeddedFont>
      <p:font typeface="Calibri (MS) Bold" charset="1" panose="020F0702030404030204"/>
      <p:regular r:id="rId25"/>
    </p:embeddedFont>
    <p:embeddedFont>
      <p:font typeface="Canva Sans" charset="1" panose="020B0503030501040103"/>
      <p:regular r:id="rId26"/>
    </p:embeddedFont>
    <p:embeddedFont>
      <p:font typeface="Times New Roman Bold" charset="1" panose="02020803070505020304"/>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0.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4.jpe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650207" y="-6198905"/>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842025" y="695962"/>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840898" y="8321561"/>
            <a:ext cx="3423422" cy="3423422"/>
          </a:xfrm>
          <a:custGeom>
            <a:avLst/>
            <a:gdLst/>
            <a:ahLst/>
            <a:cxnLst/>
            <a:rect r="r" b="b" t="t" l="l"/>
            <a:pathLst>
              <a:path h="3423422" w="3423422">
                <a:moveTo>
                  <a:pt x="0" y="0"/>
                </a:moveTo>
                <a:lnTo>
                  <a:pt x="3423421" y="0"/>
                </a:lnTo>
                <a:lnTo>
                  <a:pt x="3423421" y="3423422"/>
                </a:lnTo>
                <a:lnTo>
                  <a:pt x="0" y="3423422"/>
                </a:lnTo>
                <a:lnTo>
                  <a:pt x="0" y="0"/>
                </a:lnTo>
                <a:close/>
              </a:path>
            </a:pathLst>
          </a:custGeom>
          <a:blipFill>
            <a:blip r:embed="rId6">
              <a:alphaModFix amt="30000"/>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10729465">
            <a:off x="14552153" y="-773523"/>
            <a:ext cx="2168023" cy="2168023"/>
          </a:xfrm>
          <a:custGeom>
            <a:avLst/>
            <a:gdLst/>
            <a:ahLst/>
            <a:cxnLst/>
            <a:rect r="r" b="b" t="t" l="l"/>
            <a:pathLst>
              <a:path h="2168023" w="2168023">
                <a:moveTo>
                  <a:pt x="0" y="0"/>
                </a:moveTo>
                <a:lnTo>
                  <a:pt x="2168023" y="0"/>
                </a:lnTo>
                <a:lnTo>
                  <a:pt x="2168023" y="2168023"/>
                </a:lnTo>
                <a:lnTo>
                  <a:pt x="0" y="216802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3282568" y="3388918"/>
            <a:ext cx="11722865" cy="2496764"/>
          </a:xfrm>
          <a:prstGeom prst="rect">
            <a:avLst/>
          </a:prstGeom>
        </p:spPr>
        <p:txBody>
          <a:bodyPr anchor="t" rtlCol="false" tIns="0" lIns="0" bIns="0" rIns="0">
            <a:spAutoFit/>
          </a:bodyPr>
          <a:lstStyle/>
          <a:p>
            <a:pPr algn="ctr">
              <a:lnSpc>
                <a:spcPts val="4907"/>
              </a:lnSpc>
            </a:pPr>
            <a:r>
              <a:rPr lang="en-US" b="true" sz="4461">
                <a:solidFill>
                  <a:srgbClr val="153969"/>
                </a:solidFill>
                <a:latin typeface="Montserrat Bold"/>
                <a:ea typeface="Montserrat Bold"/>
                <a:cs typeface="Montserrat Bold"/>
                <a:sym typeface="Montserrat Bold"/>
              </a:rPr>
              <a:t>SISTEM PENDUKUNG  KEPUTUSAN DALAM PEMILIHAN LAYANAN INTERNET DENGAN MENGGUNAKAN METODE SMART BERBASIS WEB</a:t>
            </a:r>
          </a:p>
        </p:txBody>
      </p:sp>
      <p:sp>
        <p:nvSpPr>
          <p:cNvPr name="TextBox 9" id="9"/>
          <p:cNvSpPr txBox="true"/>
          <p:nvPr/>
        </p:nvSpPr>
        <p:spPr>
          <a:xfrm rot="0">
            <a:off x="6192383" y="7267683"/>
            <a:ext cx="5903234" cy="1990617"/>
          </a:xfrm>
          <a:prstGeom prst="rect">
            <a:avLst/>
          </a:prstGeom>
        </p:spPr>
        <p:txBody>
          <a:bodyPr anchor="t" rtlCol="false" tIns="0" lIns="0" bIns="0" rIns="0">
            <a:spAutoFit/>
          </a:bodyPr>
          <a:lstStyle/>
          <a:p>
            <a:pPr algn="ctr">
              <a:lnSpc>
                <a:spcPts val="3200"/>
              </a:lnSpc>
            </a:pPr>
            <a:r>
              <a:rPr lang="en-US" sz="2285" b="true">
                <a:solidFill>
                  <a:srgbClr val="153969"/>
                </a:solidFill>
                <a:latin typeface="Canva Sans Bold"/>
                <a:ea typeface="Canva Sans Bold"/>
                <a:cs typeface="Canva Sans Bold"/>
                <a:sym typeface="Canva Sans Bold"/>
              </a:rPr>
              <a:t>Nama Anggota</a:t>
            </a:r>
          </a:p>
          <a:p>
            <a:pPr algn="ctr">
              <a:lnSpc>
                <a:spcPts val="3200"/>
              </a:lnSpc>
            </a:pPr>
          </a:p>
          <a:p>
            <a:pPr algn="ctr">
              <a:lnSpc>
                <a:spcPts val="3200"/>
              </a:lnSpc>
            </a:pPr>
            <a:r>
              <a:rPr lang="en-US" sz="2285" b="true">
                <a:solidFill>
                  <a:srgbClr val="153969"/>
                </a:solidFill>
                <a:latin typeface="Canva Sans Bold"/>
                <a:ea typeface="Canva Sans Bold"/>
                <a:cs typeface="Canva Sans Bold"/>
                <a:sym typeface="Canva Sans Bold"/>
              </a:rPr>
              <a:t>Muhammad Fadhel Akbar (231011401687)</a:t>
            </a:r>
          </a:p>
          <a:p>
            <a:pPr algn="ctr">
              <a:lnSpc>
                <a:spcPts val="3200"/>
              </a:lnSpc>
            </a:pPr>
            <a:r>
              <a:rPr lang="en-US" sz="2285" b="true">
                <a:solidFill>
                  <a:srgbClr val="153969"/>
                </a:solidFill>
                <a:latin typeface="Canva Sans Bold"/>
                <a:ea typeface="Canva Sans Bold"/>
                <a:cs typeface="Canva Sans Bold"/>
                <a:sym typeface="Canva Sans Bold"/>
              </a:rPr>
              <a:t>Aulia Putri (231011401933)</a:t>
            </a:r>
          </a:p>
          <a:p>
            <a:pPr algn="ctr">
              <a:lnSpc>
                <a:spcPts val="3200"/>
              </a:lnSpc>
              <a:spcBef>
                <a:spcPct val="0"/>
              </a:spcBef>
            </a:pPr>
            <a:r>
              <a:rPr lang="en-US" b="true" sz="2285">
                <a:solidFill>
                  <a:srgbClr val="153969"/>
                </a:solidFill>
                <a:latin typeface="Canva Sans Bold"/>
                <a:ea typeface="Canva Sans Bold"/>
                <a:cs typeface="Canva Sans Bold"/>
                <a:sym typeface="Canva Sans Bold"/>
              </a:rPr>
              <a:t>Fikri Fadli (231011403439)</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07191" y="3469959"/>
            <a:ext cx="4894931" cy="2872093"/>
            <a:chOff x="0" y="0"/>
            <a:chExt cx="1001921" cy="587876"/>
          </a:xfrm>
        </p:grpSpPr>
        <p:sp>
          <p:nvSpPr>
            <p:cNvPr name="Freeform 3" id="3"/>
            <p:cNvSpPr/>
            <p:nvPr/>
          </p:nvSpPr>
          <p:spPr>
            <a:xfrm flipH="false" flipV="false" rot="0">
              <a:off x="0" y="0"/>
              <a:ext cx="1001921" cy="587876"/>
            </a:xfrm>
            <a:custGeom>
              <a:avLst/>
              <a:gdLst/>
              <a:ahLst/>
              <a:cxnLst/>
              <a:rect r="r" b="b" t="t" l="l"/>
              <a:pathLst>
                <a:path h="587876" w="1001921">
                  <a:moveTo>
                    <a:pt x="158162" y="0"/>
                  </a:moveTo>
                  <a:lnTo>
                    <a:pt x="843759" y="0"/>
                  </a:lnTo>
                  <a:cubicBezTo>
                    <a:pt x="885706" y="0"/>
                    <a:pt x="925935" y="16663"/>
                    <a:pt x="955596" y="46325"/>
                  </a:cubicBezTo>
                  <a:cubicBezTo>
                    <a:pt x="985257" y="75986"/>
                    <a:pt x="1001921" y="116215"/>
                    <a:pt x="1001921" y="158162"/>
                  </a:cubicBezTo>
                  <a:lnTo>
                    <a:pt x="1001921" y="429714"/>
                  </a:lnTo>
                  <a:cubicBezTo>
                    <a:pt x="1001921" y="471661"/>
                    <a:pt x="985257" y="511890"/>
                    <a:pt x="955596" y="541551"/>
                  </a:cubicBezTo>
                  <a:cubicBezTo>
                    <a:pt x="925935" y="571212"/>
                    <a:pt x="885706" y="587876"/>
                    <a:pt x="843759" y="587876"/>
                  </a:cubicBezTo>
                  <a:lnTo>
                    <a:pt x="158162" y="587876"/>
                  </a:lnTo>
                  <a:cubicBezTo>
                    <a:pt x="70812" y="587876"/>
                    <a:pt x="0" y="517064"/>
                    <a:pt x="0" y="429714"/>
                  </a:cubicBezTo>
                  <a:lnTo>
                    <a:pt x="0" y="158162"/>
                  </a:lnTo>
                  <a:cubicBezTo>
                    <a:pt x="0" y="70812"/>
                    <a:pt x="70812" y="0"/>
                    <a:pt x="158162" y="0"/>
                  </a:cubicBezTo>
                  <a:close/>
                </a:path>
              </a:pathLst>
            </a:custGeom>
            <a:solidFill>
              <a:srgbClr val="F1EDDC"/>
            </a:solidFill>
          </p:spPr>
        </p:sp>
        <p:sp>
          <p:nvSpPr>
            <p:cNvPr name="TextBox 4" id="4"/>
            <p:cNvSpPr txBox="true"/>
            <p:nvPr/>
          </p:nvSpPr>
          <p:spPr>
            <a:xfrm>
              <a:off x="0" y="-38100"/>
              <a:ext cx="1001921" cy="625976"/>
            </a:xfrm>
            <a:prstGeom prst="rect">
              <a:avLst/>
            </a:prstGeom>
          </p:spPr>
          <p:txBody>
            <a:bodyPr anchor="ctr" rtlCol="false" tIns="47086" lIns="47086" bIns="47086" rIns="47086"/>
            <a:lstStyle/>
            <a:p>
              <a:pPr algn="ctr">
                <a:lnSpc>
                  <a:spcPts val="2659"/>
                </a:lnSpc>
              </a:pPr>
            </a:p>
          </p:txBody>
        </p:sp>
      </p:grpSp>
      <p:grpSp>
        <p:nvGrpSpPr>
          <p:cNvPr name="Group 5" id="5"/>
          <p:cNvGrpSpPr/>
          <p:nvPr/>
        </p:nvGrpSpPr>
        <p:grpSpPr>
          <a:xfrm rot="0">
            <a:off x="1892448" y="3736568"/>
            <a:ext cx="809016" cy="809016"/>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7" id="7"/>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sp>
        <p:nvSpPr>
          <p:cNvPr name="TextBox 8" id="8"/>
          <p:cNvSpPr txBox="true"/>
          <p:nvPr/>
        </p:nvSpPr>
        <p:spPr>
          <a:xfrm rot="0">
            <a:off x="1892448" y="3923589"/>
            <a:ext cx="769064" cy="520700"/>
          </a:xfrm>
          <a:prstGeom prst="rect">
            <a:avLst/>
          </a:prstGeom>
        </p:spPr>
        <p:txBody>
          <a:bodyPr anchor="t" rtlCol="false" tIns="0" lIns="0" bIns="0" rIns="0">
            <a:spAutoFit/>
          </a:bodyPr>
          <a:lstStyle/>
          <a:p>
            <a:pPr algn="ctr">
              <a:lnSpc>
                <a:spcPts val="3999"/>
              </a:lnSpc>
            </a:pPr>
            <a:r>
              <a:rPr lang="en-US" sz="3999">
                <a:solidFill>
                  <a:srgbClr val="153969"/>
                </a:solidFill>
                <a:latin typeface="Montserrat"/>
                <a:ea typeface="Montserrat"/>
                <a:cs typeface="Montserrat"/>
                <a:sym typeface="Montserrat"/>
              </a:rPr>
              <a:t>01</a:t>
            </a:r>
          </a:p>
        </p:txBody>
      </p:sp>
      <p:grpSp>
        <p:nvGrpSpPr>
          <p:cNvPr name="Group 9" id="9"/>
          <p:cNvGrpSpPr/>
          <p:nvPr/>
        </p:nvGrpSpPr>
        <p:grpSpPr>
          <a:xfrm rot="0">
            <a:off x="10211042" y="3469959"/>
            <a:ext cx="4883630" cy="2872093"/>
            <a:chOff x="0" y="0"/>
            <a:chExt cx="999608" cy="587876"/>
          </a:xfrm>
        </p:grpSpPr>
        <p:sp>
          <p:nvSpPr>
            <p:cNvPr name="Freeform 10" id="10"/>
            <p:cNvSpPr/>
            <p:nvPr/>
          </p:nvSpPr>
          <p:spPr>
            <a:xfrm flipH="false" flipV="false" rot="0">
              <a:off x="0" y="0"/>
              <a:ext cx="999608" cy="587876"/>
            </a:xfrm>
            <a:custGeom>
              <a:avLst/>
              <a:gdLst/>
              <a:ahLst/>
              <a:cxnLst/>
              <a:rect r="r" b="b" t="t" l="l"/>
              <a:pathLst>
                <a:path h="587876" w="999608">
                  <a:moveTo>
                    <a:pt x="158528" y="0"/>
                  </a:moveTo>
                  <a:lnTo>
                    <a:pt x="841080" y="0"/>
                  </a:lnTo>
                  <a:cubicBezTo>
                    <a:pt x="928632" y="0"/>
                    <a:pt x="999608" y="70975"/>
                    <a:pt x="999608" y="158528"/>
                  </a:cubicBezTo>
                  <a:lnTo>
                    <a:pt x="999608" y="429348"/>
                  </a:lnTo>
                  <a:cubicBezTo>
                    <a:pt x="999608" y="516900"/>
                    <a:pt x="928632" y="587876"/>
                    <a:pt x="841080" y="587876"/>
                  </a:cubicBezTo>
                  <a:lnTo>
                    <a:pt x="158528" y="587876"/>
                  </a:lnTo>
                  <a:cubicBezTo>
                    <a:pt x="70975" y="587876"/>
                    <a:pt x="0" y="516900"/>
                    <a:pt x="0" y="429348"/>
                  </a:cubicBezTo>
                  <a:lnTo>
                    <a:pt x="0" y="158528"/>
                  </a:lnTo>
                  <a:cubicBezTo>
                    <a:pt x="0" y="70975"/>
                    <a:pt x="70975" y="0"/>
                    <a:pt x="158528" y="0"/>
                  </a:cubicBezTo>
                  <a:close/>
                </a:path>
              </a:pathLst>
            </a:custGeom>
            <a:solidFill>
              <a:srgbClr val="F1EDDC"/>
            </a:solidFill>
          </p:spPr>
        </p:sp>
        <p:sp>
          <p:nvSpPr>
            <p:cNvPr name="TextBox 11" id="11"/>
            <p:cNvSpPr txBox="true"/>
            <p:nvPr/>
          </p:nvSpPr>
          <p:spPr>
            <a:xfrm>
              <a:off x="0" y="-38100"/>
              <a:ext cx="999608" cy="625976"/>
            </a:xfrm>
            <a:prstGeom prst="rect">
              <a:avLst/>
            </a:prstGeom>
          </p:spPr>
          <p:txBody>
            <a:bodyPr anchor="ctr" rtlCol="false" tIns="47086" lIns="47086" bIns="47086" rIns="47086"/>
            <a:lstStyle/>
            <a:p>
              <a:pPr algn="ctr">
                <a:lnSpc>
                  <a:spcPts val="2659"/>
                </a:lnSpc>
              </a:pPr>
            </a:p>
          </p:txBody>
        </p:sp>
      </p:grpSp>
      <p:sp>
        <p:nvSpPr>
          <p:cNvPr name="Freeform 12" id="12"/>
          <p:cNvSpPr/>
          <p:nvPr/>
        </p:nvSpPr>
        <p:spPr>
          <a:xfrm flipH="false" flipV="false" rot="10729465">
            <a:off x="10555461"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grpSp>
        <p:nvGrpSpPr>
          <p:cNvPr name="Group 13" id="13"/>
          <p:cNvGrpSpPr/>
          <p:nvPr/>
        </p:nvGrpSpPr>
        <p:grpSpPr>
          <a:xfrm rot="0">
            <a:off x="5948489" y="6557348"/>
            <a:ext cx="4724049" cy="2902455"/>
            <a:chOff x="0" y="0"/>
            <a:chExt cx="966944" cy="594090"/>
          </a:xfrm>
        </p:grpSpPr>
        <p:sp>
          <p:nvSpPr>
            <p:cNvPr name="Freeform 14" id="14"/>
            <p:cNvSpPr/>
            <p:nvPr/>
          </p:nvSpPr>
          <p:spPr>
            <a:xfrm flipH="false" flipV="false" rot="0">
              <a:off x="0" y="0"/>
              <a:ext cx="966944" cy="594090"/>
            </a:xfrm>
            <a:custGeom>
              <a:avLst/>
              <a:gdLst/>
              <a:ahLst/>
              <a:cxnLst/>
              <a:rect r="r" b="b" t="t" l="l"/>
              <a:pathLst>
                <a:path h="594090" w="966944">
                  <a:moveTo>
                    <a:pt x="163883" y="0"/>
                  </a:moveTo>
                  <a:lnTo>
                    <a:pt x="803061" y="0"/>
                  </a:lnTo>
                  <a:cubicBezTo>
                    <a:pt x="893571" y="0"/>
                    <a:pt x="966944" y="73373"/>
                    <a:pt x="966944" y="163883"/>
                  </a:cubicBezTo>
                  <a:lnTo>
                    <a:pt x="966944" y="430207"/>
                  </a:lnTo>
                  <a:cubicBezTo>
                    <a:pt x="966944" y="473672"/>
                    <a:pt x="949678" y="515356"/>
                    <a:pt x="918944" y="546090"/>
                  </a:cubicBezTo>
                  <a:cubicBezTo>
                    <a:pt x="888209" y="576824"/>
                    <a:pt x="846525" y="594090"/>
                    <a:pt x="803061" y="594090"/>
                  </a:cubicBezTo>
                  <a:lnTo>
                    <a:pt x="163883" y="594090"/>
                  </a:lnTo>
                  <a:cubicBezTo>
                    <a:pt x="73373" y="594090"/>
                    <a:pt x="0" y="520717"/>
                    <a:pt x="0" y="430207"/>
                  </a:cubicBezTo>
                  <a:lnTo>
                    <a:pt x="0" y="163883"/>
                  </a:lnTo>
                  <a:cubicBezTo>
                    <a:pt x="0" y="73373"/>
                    <a:pt x="73373" y="0"/>
                    <a:pt x="163883" y="0"/>
                  </a:cubicBezTo>
                  <a:close/>
                </a:path>
              </a:pathLst>
            </a:custGeom>
            <a:solidFill>
              <a:srgbClr val="F1EDDC"/>
            </a:solidFill>
          </p:spPr>
        </p:sp>
        <p:sp>
          <p:nvSpPr>
            <p:cNvPr name="TextBox 15" id="15"/>
            <p:cNvSpPr txBox="true"/>
            <p:nvPr/>
          </p:nvSpPr>
          <p:spPr>
            <a:xfrm>
              <a:off x="0" y="-38100"/>
              <a:ext cx="966944" cy="632190"/>
            </a:xfrm>
            <a:prstGeom prst="rect">
              <a:avLst/>
            </a:prstGeom>
          </p:spPr>
          <p:txBody>
            <a:bodyPr anchor="ctr" rtlCol="false" tIns="47086" lIns="47086" bIns="47086" rIns="47086"/>
            <a:lstStyle/>
            <a:p>
              <a:pPr algn="ctr">
                <a:lnSpc>
                  <a:spcPts val="2659"/>
                </a:lnSpc>
              </a:pPr>
            </a:p>
          </p:txBody>
        </p:sp>
      </p:grpSp>
      <p:sp>
        <p:nvSpPr>
          <p:cNvPr name="Freeform 16" id="16"/>
          <p:cNvSpPr/>
          <p:nvPr/>
        </p:nvSpPr>
        <p:spPr>
          <a:xfrm flipH="false" flipV="false" rot="10729465">
            <a:off x="9914375" y="7103681"/>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7" id="17"/>
          <p:cNvSpPr/>
          <p:nvPr/>
        </p:nvSpPr>
        <p:spPr>
          <a:xfrm flipH="false" flipV="false" rot="10729465">
            <a:off x="15063957" y="5202025"/>
            <a:ext cx="5764383" cy="5764383"/>
          </a:xfrm>
          <a:custGeom>
            <a:avLst/>
            <a:gdLst/>
            <a:ahLst/>
            <a:cxnLst/>
            <a:rect r="r" b="b" t="t" l="l"/>
            <a:pathLst>
              <a:path h="5764383" w="5764383">
                <a:moveTo>
                  <a:pt x="0" y="0"/>
                </a:moveTo>
                <a:lnTo>
                  <a:pt x="5764383" y="0"/>
                </a:lnTo>
                <a:lnTo>
                  <a:pt x="5764383" y="5764383"/>
                </a:lnTo>
                <a:lnTo>
                  <a:pt x="0" y="576438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18" id="18"/>
          <p:cNvSpPr txBox="true"/>
          <p:nvPr/>
        </p:nvSpPr>
        <p:spPr>
          <a:xfrm rot="0">
            <a:off x="1044737" y="1445358"/>
            <a:ext cx="16901411" cy="1139825"/>
          </a:xfrm>
          <a:prstGeom prst="rect">
            <a:avLst/>
          </a:prstGeom>
        </p:spPr>
        <p:txBody>
          <a:bodyPr anchor="t" rtlCol="false" tIns="0" lIns="0" bIns="0" rIns="0">
            <a:spAutoFit/>
          </a:bodyPr>
          <a:lstStyle/>
          <a:p>
            <a:pPr algn="l">
              <a:lnSpc>
                <a:spcPts val="8800"/>
              </a:lnSpc>
            </a:pPr>
            <a:r>
              <a:rPr lang="en-US" sz="8000" b="true">
                <a:solidFill>
                  <a:srgbClr val="153969"/>
                </a:solidFill>
                <a:latin typeface="Montserrat Bold"/>
                <a:ea typeface="Montserrat Bold"/>
                <a:cs typeface="Montserrat Bold"/>
                <a:sym typeface="Montserrat Bold"/>
              </a:rPr>
              <a:t>Latar Belakang &amp; Studi kasus</a:t>
            </a:r>
          </a:p>
        </p:txBody>
      </p:sp>
      <p:sp>
        <p:nvSpPr>
          <p:cNvPr name="TextBox 19" id="19"/>
          <p:cNvSpPr txBox="true"/>
          <p:nvPr/>
        </p:nvSpPr>
        <p:spPr>
          <a:xfrm rot="0">
            <a:off x="3051318" y="3648857"/>
            <a:ext cx="3174024" cy="2642032"/>
          </a:xfrm>
          <a:prstGeom prst="rect">
            <a:avLst/>
          </a:prstGeom>
        </p:spPr>
        <p:txBody>
          <a:bodyPr anchor="t" rtlCol="false" tIns="0" lIns="0" bIns="0" rIns="0">
            <a:spAutoFit/>
          </a:bodyPr>
          <a:lstStyle/>
          <a:p>
            <a:pPr algn="just">
              <a:lnSpc>
                <a:spcPts val="2674"/>
              </a:lnSpc>
            </a:pPr>
            <a:r>
              <a:rPr lang="en-US" sz="1910" b="true">
                <a:solidFill>
                  <a:srgbClr val="153969"/>
                </a:solidFill>
                <a:latin typeface="Calibri (MS) Bold"/>
                <a:ea typeface="Calibri (MS) Bold"/>
                <a:cs typeface="Calibri (MS) Bold"/>
                <a:sym typeface="Calibri (MS) Bold"/>
              </a:rPr>
              <a:t>Masalah:</a:t>
            </a:r>
          </a:p>
          <a:p>
            <a:pPr algn="just">
              <a:lnSpc>
                <a:spcPts val="2674"/>
              </a:lnSpc>
            </a:pPr>
            <a:r>
              <a:rPr lang="en-US" sz="1910" b="true">
                <a:solidFill>
                  <a:srgbClr val="153969"/>
                </a:solidFill>
                <a:latin typeface="Calibri (MS) Bold"/>
                <a:ea typeface="Calibri (MS) Bold"/>
                <a:cs typeface="Calibri (MS) Bold"/>
                <a:sym typeface="Calibri (MS) Bold"/>
              </a:rPr>
              <a:t>Calon pelanggan bingung pilih provider internet karena banyak kriteria (harga, kecepatan, kuota, stabilitas, jangkauan, layanan pelanggan).</a:t>
            </a:r>
          </a:p>
          <a:p>
            <a:pPr algn="just">
              <a:lnSpc>
                <a:spcPts val="2178"/>
              </a:lnSpc>
            </a:pPr>
          </a:p>
        </p:txBody>
      </p:sp>
      <p:grpSp>
        <p:nvGrpSpPr>
          <p:cNvPr name="Group 20" id="20"/>
          <p:cNvGrpSpPr/>
          <p:nvPr/>
        </p:nvGrpSpPr>
        <p:grpSpPr>
          <a:xfrm rot="0">
            <a:off x="10516112" y="3736568"/>
            <a:ext cx="809016" cy="809016"/>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2" id="22"/>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grpSp>
        <p:nvGrpSpPr>
          <p:cNvPr name="Group 23" id="23"/>
          <p:cNvGrpSpPr/>
          <p:nvPr/>
        </p:nvGrpSpPr>
        <p:grpSpPr>
          <a:xfrm rot="0">
            <a:off x="6320360" y="6887857"/>
            <a:ext cx="809016" cy="809016"/>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25" id="25"/>
            <p:cNvSpPr txBox="true"/>
            <p:nvPr/>
          </p:nvSpPr>
          <p:spPr>
            <a:xfrm>
              <a:off x="76200" y="38100"/>
              <a:ext cx="660400" cy="698500"/>
            </a:xfrm>
            <a:prstGeom prst="rect">
              <a:avLst/>
            </a:prstGeom>
          </p:spPr>
          <p:txBody>
            <a:bodyPr anchor="ctr" rtlCol="false" tIns="47086" lIns="47086" bIns="47086" rIns="47086"/>
            <a:lstStyle/>
            <a:p>
              <a:pPr algn="ctr">
                <a:lnSpc>
                  <a:spcPts val="2659"/>
                </a:lnSpc>
                <a:spcBef>
                  <a:spcPct val="0"/>
                </a:spcBef>
              </a:pPr>
            </a:p>
          </p:txBody>
        </p:sp>
      </p:grpSp>
      <p:sp>
        <p:nvSpPr>
          <p:cNvPr name="TextBox 26" id="26"/>
          <p:cNvSpPr txBox="true"/>
          <p:nvPr/>
        </p:nvSpPr>
        <p:spPr>
          <a:xfrm rot="0">
            <a:off x="6340336" y="7074878"/>
            <a:ext cx="769064" cy="520700"/>
          </a:xfrm>
          <a:prstGeom prst="rect">
            <a:avLst/>
          </a:prstGeom>
        </p:spPr>
        <p:txBody>
          <a:bodyPr anchor="t" rtlCol="false" tIns="0" lIns="0" bIns="0" rIns="0">
            <a:spAutoFit/>
          </a:bodyPr>
          <a:lstStyle/>
          <a:p>
            <a:pPr algn="ctr">
              <a:lnSpc>
                <a:spcPts val="3999"/>
              </a:lnSpc>
            </a:pPr>
            <a:r>
              <a:rPr lang="en-US" sz="3999">
                <a:solidFill>
                  <a:srgbClr val="153969"/>
                </a:solidFill>
                <a:latin typeface="Montserrat"/>
                <a:ea typeface="Montserrat"/>
                <a:cs typeface="Montserrat"/>
                <a:sym typeface="Montserrat"/>
              </a:rPr>
              <a:t>02</a:t>
            </a:r>
          </a:p>
        </p:txBody>
      </p:sp>
      <p:sp>
        <p:nvSpPr>
          <p:cNvPr name="TextBox 27" id="27"/>
          <p:cNvSpPr txBox="true"/>
          <p:nvPr/>
        </p:nvSpPr>
        <p:spPr>
          <a:xfrm rot="0">
            <a:off x="10536088" y="3923589"/>
            <a:ext cx="769064" cy="520700"/>
          </a:xfrm>
          <a:prstGeom prst="rect">
            <a:avLst/>
          </a:prstGeom>
        </p:spPr>
        <p:txBody>
          <a:bodyPr anchor="t" rtlCol="false" tIns="0" lIns="0" bIns="0" rIns="0">
            <a:spAutoFit/>
          </a:bodyPr>
          <a:lstStyle/>
          <a:p>
            <a:pPr algn="ctr">
              <a:lnSpc>
                <a:spcPts val="3999"/>
              </a:lnSpc>
            </a:pPr>
            <a:r>
              <a:rPr lang="en-US" sz="3999">
                <a:solidFill>
                  <a:srgbClr val="153969"/>
                </a:solidFill>
                <a:latin typeface="Montserrat"/>
                <a:ea typeface="Montserrat"/>
                <a:cs typeface="Montserrat"/>
                <a:sym typeface="Montserrat"/>
              </a:rPr>
              <a:t>03</a:t>
            </a:r>
          </a:p>
        </p:txBody>
      </p:sp>
      <p:sp>
        <p:nvSpPr>
          <p:cNvPr name="TextBox 28" id="28"/>
          <p:cNvSpPr txBox="true"/>
          <p:nvPr/>
        </p:nvSpPr>
        <p:spPr>
          <a:xfrm rot="0">
            <a:off x="7559292" y="6811657"/>
            <a:ext cx="2760193" cy="1725456"/>
          </a:xfrm>
          <a:prstGeom prst="rect">
            <a:avLst/>
          </a:prstGeom>
        </p:spPr>
        <p:txBody>
          <a:bodyPr anchor="t" rtlCol="false" tIns="0" lIns="0" bIns="0" rIns="0">
            <a:spAutoFit/>
          </a:bodyPr>
          <a:lstStyle/>
          <a:p>
            <a:pPr algn="just">
              <a:lnSpc>
                <a:spcPts val="2677"/>
              </a:lnSpc>
            </a:pPr>
            <a:r>
              <a:rPr lang="en-US" sz="1912" b="true">
                <a:solidFill>
                  <a:srgbClr val="153969"/>
                </a:solidFill>
                <a:latin typeface="Calibri (MS) Bold"/>
                <a:ea typeface="Calibri (MS) Bold"/>
                <a:cs typeface="Calibri (MS) Bold"/>
                <a:sym typeface="Calibri (MS) Bold"/>
              </a:rPr>
              <a:t>Tujuan:</a:t>
            </a:r>
          </a:p>
          <a:p>
            <a:pPr algn="just">
              <a:lnSpc>
                <a:spcPts val="2677"/>
              </a:lnSpc>
            </a:pPr>
            <a:r>
              <a:rPr lang="en-US" sz="1912" b="true">
                <a:solidFill>
                  <a:srgbClr val="153969"/>
                </a:solidFill>
                <a:latin typeface="Calibri (MS) Bold"/>
                <a:ea typeface="Calibri (MS) Bold"/>
                <a:cs typeface="Calibri (MS) Bold"/>
                <a:sym typeface="Calibri (MS) Bold"/>
              </a:rPr>
              <a:t>Membantu memilih ISP terbaik sesuai kebutuhan pengguna secara objektif &amp; terukur.</a:t>
            </a:r>
          </a:p>
        </p:txBody>
      </p:sp>
      <p:sp>
        <p:nvSpPr>
          <p:cNvPr name="TextBox 29" id="29"/>
          <p:cNvSpPr txBox="true"/>
          <p:nvPr/>
        </p:nvSpPr>
        <p:spPr>
          <a:xfrm rot="0">
            <a:off x="11481554" y="3648857"/>
            <a:ext cx="3290140" cy="2065024"/>
          </a:xfrm>
          <a:prstGeom prst="rect">
            <a:avLst/>
          </a:prstGeom>
        </p:spPr>
        <p:txBody>
          <a:bodyPr anchor="t" rtlCol="false" tIns="0" lIns="0" bIns="0" rIns="0">
            <a:spAutoFit/>
          </a:bodyPr>
          <a:lstStyle/>
          <a:p>
            <a:pPr algn="just">
              <a:lnSpc>
                <a:spcPts val="2677"/>
              </a:lnSpc>
            </a:pPr>
            <a:r>
              <a:rPr lang="en-US" sz="1912" b="true">
                <a:solidFill>
                  <a:srgbClr val="153969"/>
                </a:solidFill>
                <a:latin typeface="Calibri (MS) Bold"/>
                <a:ea typeface="Calibri (MS) Bold"/>
                <a:cs typeface="Calibri (MS) Bold"/>
                <a:sym typeface="Calibri (MS) Bold"/>
              </a:rPr>
              <a:t>Studi Kasus:</a:t>
            </a:r>
          </a:p>
          <a:p>
            <a:pPr algn="just">
              <a:lnSpc>
                <a:spcPts val="2677"/>
              </a:lnSpc>
            </a:pPr>
            <a:r>
              <a:rPr lang="en-US" sz="1912" b="true">
                <a:solidFill>
                  <a:srgbClr val="153969"/>
                </a:solidFill>
                <a:latin typeface="Calibri (MS) Bold"/>
                <a:ea typeface="Calibri (MS) Bold"/>
                <a:cs typeface="Calibri (MS) Bold"/>
                <a:sym typeface="Calibri (MS) Bold"/>
              </a:rPr>
              <a:t>10 ISP populer di Indonesia (IndiHome, Biznet, First Media, MyRepublic, CBN, XL Satu Fiber, Oxygen, Biznet Metronet, MNC Play, Groovy).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088284" y="-31476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994591" y="297177"/>
            <a:ext cx="4797613" cy="4797613"/>
          </a:xfrm>
          <a:custGeom>
            <a:avLst/>
            <a:gdLst/>
            <a:ahLst/>
            <a:cxnLst/>
            <a:rect r="r" b="b" t="t" l="l"/>
            <a:pathLst>
              <a:path h="4797613" w="4797613">
                <a:moveTo>
                  <a:pt x="0" y="0"/>
                </a:moveTo>
                <a:lnTo>
                  <a:pt x="4797613" y="0"/>
                </a:lnTo>
                <a:lnTo>
                  <a:pt x="4797613"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5082007" y="-29952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175700" y="449577"/>
            <a:ext cx="4797613" cy="4797613"/>
          </a:xfrm>
          <a:custGeom>
            <a:avLst/>
            <a:gdLst/>
            <a:ahLst/>
            <a:cxnLst/>
            <a:rect r="r" b="b" t="t" l="l"/>
            <a:pathLst>
              <a:path h="4797613" w="4797613">
                <a:moveTo>
                  <a:pt x="0" y="0"/>
                </a:moveTo>
                <a:lnTo>
                  <a:pt x="4797614" y="0"/>
                </a:lnTo>
                <a:lnTo>
                  <a:pt x="4797614"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249504" y="575084"/>
            <a:ext cx="22787008" cy="1695452"/>
          </a:xfrm>
          <a:prstGeom prst="rect">
            <a:avLst/>
          </a:prstGeom>
        </p:spPr>
        <p:txBody>
          <a:bodyPr anchor="t" rtlCol="false" tIns="0" lIns="0" bIns="0" rIns="0">
            <a:spAutoFit/>
          </a:bodyPr>
          <a:lstStyle/>
          <a:p>
            <a:pPr algn="ctr">
              <a:lnSpc>
                <a:spcPts val="6600"/>
              </a:lnSpc>
            </a:pPr>
            <a:r>
              <a:rPr lang="en-US" sz="6000" b="true">
                <a:solidFill>
                  <a:srgbClr val="153969"/>
                </a:solidFill>
                <a:latin typeface="Montserrat Bold"/>
                <a:ea typeface="Montserrat Bold"/>
                <a:cs typeface="Montserrat Bold"/>
                <a:sym typeface="Montserrat Bold"/>
              </a:rPr>
              <a:t>Metode SMART</a:t>
            </a:r>
          </a:p>
          <a:p>
            <a:pPr algn="ctr">
              <a:lnSpc>
                <a:spcPts val="6600"/>
              </a:lnSpc>
            </a:pPr>
            <a:r>
              <a:rPr lang="en-US" b="true" sz="6000">
                <a:solidFill>
                  <a:srgbClr val="153969"/>
                </a:solidFill>
                <a:latin typeface="Montserrat Bold"/>
                <a:ea typeface="Montserrat Bold"/>
                <a:cs typeface="Montserrat Bold"/>
                <a:sym typeface="Montserrat Bold"/>
              </a:rPr>
              <a:t>(Simple Multi-Attribute Rating Technique)</a:t>
            </a:r>
            <a:r>
              <a:rPr lang="en-US" b="true" sz="6000">
                <a:solidFill>
                  <a:srgbClr val="153969"/>
                </a:solidFill>
                <a:latin typeface="Montserrat Bold"/>
                <a:ea typeface="Montserrat Bold"/>
                <a:cs typeface="Montserrat Bold"/>
                <a:sym typeface="Montserrat Bold"/>
              </a:rPr>
              <a:t> </a:t>
            </a:r>
          </a:p>
        </p:txBody>
      </p:sp>
      <p:grpSp>
        <p:nvGrpSpPr>
          <p:cNvPr name="Group 7" id="7"/>
          <p:cNvGrpSpPr/>
          <p:nvPr/>
        </p:nvGrpSpPr>
        <p:grpSpPr>
          <a:xfrm rot="0">
            <a:off x="404216" y="2695984"/>
            <a:ext cx="8358467" cy="7392233"/>
            <a:chOff x="0" y="0"/>
            <a:chExt cx="2201407" cy="1946926"/>
          </a:xfrm>
        </p:grpSpPr>
        <p:sp>
          <p:nvSpPr>
            <p:cNvPr name="Freeform 8" id="8"/>
            <p:cNvSpPr/>
            <p:nvPr/>
          </p:nvSpPr>
          <p:spPr>
            <a:xfrm flipH="false" flipV="false" rot="0">
              <a:off x="0" y="0"/>
              <a:ext cx="2201407" cy="1946926"/>
            </a:xfrm>
            <a:custGeom>
              <a:avLst/>
              <a:gdLst/>
              <a:ahLst/>
              <a:cxnLst/>
              <a:rect r="r" b="b" t="t" l="l"/>
              <a:pathLst>
                <a:path h="1946926" w="2201407">
                  <a:moveTo>
                    <a:pt x="18525" y="0"/>
                  </a:moveTo>
                  <a:lnTo>
                    <a:pt x="2182882" y="0"/>
                  </a:lnTo>
                  <a:cubicBezTo>
                    <a:pt x="2187795" y="0"/>
                    <a:pt x="2192507" y="1952"/>
                    <a:pt x="2195981" y="5426"/>
                  </a:cubicBezTo>
                  <a:cubicBezTo>
                    <a:pt x="2199455" y="8900"/>
                    <a:pt x="2201407" y="13612"/>
                    <a:pt x="2201407" y="18525"/>
                  </a:cubicBezTo>
                  <a:lnTo>
                    <a:pt x="2201407" y="1928401"/>
                  </a:lnTo>
                  <a:cubicBezTo>
                    <a:pt x="2201407" y="1933314"/>
                    <a:pt x="2199455" y="1938026"/>
                    <a:pt x="2195981" y="1941500"/>
                  </a:cubicBezTo>
                  <a:cubicBezTo>
                    <a:pt x="2192507" y="1944974"/>
                    <a:pt x="2187795" y="1946926"/>
                    <a:pt x="2182882" y="1946926"/>
                  </a:cubicBezTo>
                  <a:lnTo>
                    <a:pt x="18525" y="1946926"/>
                  </a:lnTo>
                  <a:cubicBezTo>
                    <a:pt x="13612" y="1946926"/>
                    <a:pt x="8900" y="1944974"/>
                    <a:pt x="5426" y="1941500"/>
                  </a:cubicBezTo>
                  <a:cubicBezTo>
                    <a:pt x="1952" y="1938026"/>
                    <a:pt x="0" y="1933314"/>
                    <a:pt x="0" y="1928401"/>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9" id="9"/>
            <p:cNvSpPr txBox="true"/>
            <p:nvPr/>
          </p:nvSpPr>
          <p:spPr>
            <a:xfrm>
              <a:off x="0" y="-57150"/>
              <a:ext cx="2201407" cy="2004076"/>
            </a:xfrm>
            <a:prstGeom prst="rect">
              <a:avLst/>
            </a:prstGeom>
          </p:spPr>
          <p:txBody>
            <a:bodyPr anchor="ctr" rtlCol="false" tIns="50800" lIns="50800" bIns="50800" rIns="50800"/>
            <a:lstStyle/>
            <a:p>
              <a:pPr algn="just" marL="0" indent="0" lvl="0">
                <a:lnSpc>
                  <a:spcPts val="4200"/>
                </a:lnSpc>
                <a:spcBef>
                  <a:spcPct val="0"/>
                </a:spcBef>
              </a:pPr>
              <a:r>
                <a:rPr lang="en-US" b="true" sz="3000" strike="noStrike" u="none">
                  <a:solidFill>
                    <a:srgbClr val="FFFFFF"/>
                  </a:solidFill>
                  <a:latin typeface="Canva Sans Bold"/>
                  <a:ea typeface="Canva Sans Bold"/>
                  <a:cs typeface="Canva Sans Bold"/>
                  <a:sym typeface="Canva Sans Bold"/>
                </a:rPr>
                <a:t>Konteks Sistem Pendukung Keputusan</a:t>
              </a:r>
            </a:p>
            <a:p>
              <a:pPr algn="l" marL="647703" indent="-323852" lvl="1">
                <a:lnSpc>
                  <a:spcPts val="4200"/>
                </a:lnSpc>
                <a:spcBef>
                  <a:spcPct val="0"/>
                </a:spcBef>
                <a:buAutoNum type="arabicPeriod" startAt="1"/>
              </a:pPr>
              <a:r>
                <a:rPr lang="en-US" sz="3000" strike="noStrike" u="none">
                  <a:solidFill>
                    <a:srgbClr val="FFFFFF"/>
                  </a:solidFill>
                  <a:latin typeface="Canva Sans"/>
                  <a:ea typeface="Canva Sans"/>
                  <a:cs typeface="Canva Sans"/>
                  <a:sym typeface="Canva Sans"/>
                </a:rPr>
                <a:t>Metode SMART dipilih karena kemampuannya memecah masalah keputusan yang kompleks menjadi komponen-komponen kriteria yang lebih sederhana.</a:t>
              </a:r>
            </a:p>
            <a:p>
              <a:pPr algn="l">
                <a:lnSpc>
                  <a:spcPts val="4200"/>
                </a:lnSpc>
                <a:spcBef>
                  <a:spcPct val="0"/>
                </a:spcBef>
              </a:pPr>
            </a:p>
            <a:p>
              <a:pPr algn="l" marL="647703" indent="-323852" lvl="1">
                <a:lnSpc>
                  <a:spcPts val="4200"/>
                </a:lnSpc>
                <a:spcBef>
                  <a:spcPct val="0"/>
                </a:spcBef>
                <a:buAutoNum type="arabicPeriod" startAt="1"/>
              </a:pPr>
              <a:r>
                <a:rPr lang="en-US" sz="3000" strike="noStrike" u="none">
                  <a:solidFill>
                    <a:srgbClr val="FFFFFF"/>
                  </a:solidFill>
                  <a:latin typeface="Canva Sans"/>
                  <a:ea typeface="Canva Sans"/>
                  <a:cs typeface="Canva Sans"/>
                  <a:sym typeface="Canva Sans"/>
                </a:rPr>
                <a:t>Keunggulan metode ini terletak pada kemudahan penggunanya dalam memberikan bobot untuk setiap kriteria berdasarkan preferensi atau nilai kepentingan secara intuitif.</a:t>
              </a:r>
            </a:p>
            <a:p>
              <a:pPr algn="just" marL="0" indent="0" lvl="0">
                <a:lnSpc>
                  <a:spcPts val="4200"/>
                </a:lnSpc>
                <a:spcBef>
                  <a:spcPct val="0"/>
                </a:spcBef>
              </a:pPr>
            </a:p>
          </p:txBody>
        </p:sp>
      </p:grpSp>
      <p:grpSp>
        <p:nvGrpSpPr>
          <p:cNvPr name="Group 10" id="10"/>
          <p:cNvGrpSpPr/>
          <p:nvPr/>
        </p:nvGrpSpPr>
        <p:grpSpPr>
          <a:xfrm rot="0">
            <a:off x="9532865" y="2695984"/>
            <a:ext cx="8358467" cy="7447637"/>
            <a:chOff x="0" y="0"/>
            <a:chExt cx="2201407" cy="1961518"/>
          </a:xfrm>
        </p:grpSpPr>
        <p:sp>
          <p:nvSpPr>
            <p:cNvPr name="Freeform 11" id="11"/>
            <p:cNvSpPr/>
            <p:nvPr/>
          </p:nvSpPr>
          <p:spPr>
            <a:xfrm flipH="false" flipV="false" rot="0">
              <a:off x="0" y="0"/>
              <a:ext cx="2201407" cy="1961518"/>
            </a:xfrm>
            <a:custGeom>
              <a:avLst/>
              <a:gdLst/>
              <a:ahLst/>
              <a:cxnLst/>
              <a:rect r="r" b="b" t="t" l="l"/>
              <a:pathLst>
                <a:path h="1961518" w="2201407">
                  <a:moveTo>
                    <a:pt x="18525" y="0"/>
                  </a:moveTo>
                  <a:lnTo>
                    <a:pt x="2182882" y="0"/>
                  </a:lnTo>
                  <a:cubicBezTo>
                    <a:pt x="2187795" y="0"/>
                    <a:pt x="2192507" y="1952"/>
                    <a:pt x="2195981" y="5426"/>
                  </a:cubicBezTo>
                  <a:cubicBezTo>
                    <a:pt x="2199455" y="8900"/>
                    <a:pt x="2201407" y="13612"/>
                    <a:pt x="2201407" y="18525"/>
                  </a:cubicBezTo>
                  <a:lnTo>
                    <a:pt x="2201407" y="1942993"/>
                  </a:lnTo>
                  <a:cubicBezTo>
                    <a:pt x="2201407" y="1947906"/>
                    <a:pt x="2199455" y="1952618"/>
                    <a:pt x="2195981" y="1956092"/>
                  </a:cubicBezTo>
                  <a:cubicBezTo>
                    <a:pt x="2192507" y="1959566"/>
                    <a:pt x="2187795" y="1961518"/>
                    <a:pt x="2182882" y="1961518"/>
                  </a:cubicBezTo>
                  <a:lnTo>
                    <a:pt x="18525" y="1961518"/>
                  </a:lnTo>
                  <a:cubicBezTo>
                    <a:pt x="13612" y="1961518"/>
                    <a:pt x="8900" y="1959566"/>
                    <a:pt x="5426" y="1956092"/>
                  </a:cubicBezTo>
                  <a:cubicBezTo>
                    <a:pt x="1952" y="1952618"/>
                    <a:pt x="0" y="1947906"/>
                    <a:pt x="0" y="1942993"/>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12" id="12"/>
            <p:cNvSpPr txBox="true"/>
            <p:nvPr/>
          </p:nvSpPr>
          <p:spPr>
            <a:xfrm>
              <a:off x="0" y="-57150"/>
              <a:ext cx="2201407" cy="2018668"/>
            </a:xfrm>
            <a:prstGeom prst="rect">
              <a:avLst/>
            </a:prstGeom>
          </p:spPr>
          <p:txBody>
            <a:bodyPr anchor="ctr" rtlCol="false" tIns="50800" lIns="50800" bIns="50800" rIns="50800"/>
            <a:lstStyle/>
            <a:p>
              <a:pPr algn="just" marL="0" indent="0" lvl="0">
                <a:lnSpc>
                  <a:spcPts val="4200"/>
                </a:lnSpc>
                <a:spcBef>
                  <a:spcPct val="0"/>
                </a:spcBef>
              </a:pPr>
              <a:r>
                <a:rPr lang="en-US" b="true" sz="3000" strike="noStrike" u="none">
                  <a:solidFill>
                    <a:srgbClr val="FFFFFF"/>
                  </a:solidFill>
                  <a:latin typeface="Canva Sans Bold"/>
                  <a:ea typeface="Canva Sans Bold"/>
                  <a:cs typeface="Canva Sans Bold"/>
                  <a:sym typeface="Canva Sans Bold"/>
                </a:rPr>
                <a:t>Konteks </a:t>
              </a:r>
              <a:r>
                <a:rPr lang="en-US" b="true" sz="3000" strike="noStrike" u="none">
                  <a:solidFill>
                    <a:srgbClr val="FFFFFF"/>
                  </a:solidFill>
                  <a:latin typeface="Canva Sans Bold"/>
                  <a:ea typeface="Canva Sans Bold"/>
                  <a:cs typeface="Canva Sans Bold"/>
                  <a:sym typeface="Canva Sans Bold"/>
                </a:rPr>
                <a:t>P</a:t>
              </a:r>
              <a:r>
                <a:rPr lang="en-US" b="true" sz="3000" strike="noStrike" u="none">
                  <a:solidFill>
                    <a:srgbClr val="FFFFFF"/>
                  </a:solidFill>
                  <a:latin typeface="Canva Sans Bold"/>
                  <a:ea typeface="Canva Sans Bold"/>
                  <a:cs typeface="Canva Sans Bold"/>
                  <a:sym typeface="Canva Sans Bold"/>
                </a:rPr>
                <a:t>em</a:t>
              </a:r>
              <a:r>
                <a:rPr lang="en-US" b="true" sz="3000" strike="noStrike" u="none">
                  <a:solidFill>
                    <a:srgbClr val="FFFFFF"/>
                  </a:solidFill>
                  <a:latin typeface="Canva Sans Bold"/>
                  <a:ea typeface="Canva Sans Bold"/>
                  <a:cs typeface="Canva Sans Bold"/>
                  <a:sym typeface="Canva Sans Bold"/>
                </a:rPr>
                <a:t>ilihan</a:t>
              </a:r>
              <a:r>
                <a:rPr lang="en-US" b="true" sz="3000" strike="noStrike" u="none">
                  <a:solidFill>
                    <a:srgbClr val="FFFFFF"/>
                  </a:solidFill>
                  <a:latin typeface="Canva Sans Bold"/>
                  <a:ea typeface="Canva Sans Bold"/>
                  <a:cs typeface="Canva Sans Bold"/>
                  <a:sym typeface="Canva Sans Bold"/>
                </a:rPr>
                <a:t> </a:t>
              </a:r>
              <a:r>
                <a:rPr lang="en-US" b="true" sz="3000" strike="noStrike" u="none">
                  <a:solidFill>
                    <a:srgbClr val="FFFFFF"/>
                  </a:solidFill>
                  <a:latin typeface="Canva Sans Bold"/>
                  <a:ea typeface="Canva Sans Bold"/>
                  <a:cs typeface="Canva Sans Bold"/>
                  <a:sym typeface="Canva Sans Bold"/>
                </a:rPr>
                <a:t>Laya</a:t>
              </a:r>
              <a:r>
                <a:rPr lang="en-US" b="true" sz="3000" strike="noStrike" u="none">
                  <a:solidFill>
                    <a:srgbClr val="FFFFFF"/>
                  </a:solidFill>
                  <a:latin typeface="Canva Sans Bold"/>
                  <a:ea typeface="Canva Sans Bold"/>
                  <a:cs typeface="Canva Sans Bold"/>
                  <a:sym typeface="Canva Sans Bold"/>
                </a:rPr>
                <a:t>n</a:t>
              </a:r>
              <a:r>
                <a:rPr lang="en-US" b="true" sz="3000" strike="noStrike" u="none">
                  <a:solidFill>
                    <a:srgbClr val="FFFFFF"/>
                  </a:solidFill>
                  <a:latin typeface="Canva Sans Bold"/>
                  <a:ea typeface="Canva Sans Bold"/>
                  <a:cs typeface="Canva Sans Bold"/>
                  <a:sym typeface="Canva Sans Bold"/>
                </a:rPr>
                <a:t>a</a:t>
              </a:r>
              <a:r>
                <a:rPr lang="en-US" b="true" sz="3000" strike="noStrike" u="none">
                  <a:solidFill>
                    <a:srgbClr val="FFFFFF"/>
                  </a:solidFill>
                  <a:latin typeface="Canva Sans Bold"/>
                  <a:ea typeface="Canva Sans Bold"/>
                  <a:cs typeface="Canva Sans Bold"/>
                  <a:sym typeface="Canva Sans Bold"/>
                </a:rPr>
                <a:t>n </a:t>
              </a:r>
              <a:r>
                <a:rPr lang="en-US" b="true" sz="3000" strike="noStrike" u="none">
                  <a:solidFill>
                    <a:srgbClr val="FFFFFF"/>
                  </a:solidFill>
                  <a:latin typeface="Canva Sans Bold"/>
                  <a:ea typeface="Canva Sans Bold"/>
                  <a:cs typeface="Canva Sans Bold"/>
                  <a:sym typeface="Canva Sans Bold"/>
                </a:rPr>
                <a:t>In</a:t>
              </a:r>
              <a:r>
                <a:rPr lang="en-US" b="true" sz="3000" strike="noStrike" u="none">
                  <a:solidFill>
                    <a:srgbClr val="FFFFFF"/>
                  </a:solidFill>
                  <a:latin typeface="Canva Sans Bold"/>
                  <a:ea typeface="Canva Sans Bold"/>
                  <a:cs typeface="Canva Sans Bold"/>
                  <a:sym typeface="Canva Sans Bold"/>
                </a:rPr>
                <a:t>t</a:t>
              </a:r>
              <a:r>
                <a:rPr lang="en-US" b="true" sz="3000" strike="noStrike" u="none">
                  <a:solidFill>
                    <a:srgbClr val="FFFFFF"/>
                  </a:solidFill>
                  <a:latin typeface="Canva Sans Bold"/>
                  <a:ea typeface="Canva Sans Bold"/>
                  <a:cs typeface="Canva Sans Bold"/>
                  <a:sym typeface="Canva Sans Bold"/>
                </a:rPr>
                <a:t>er</a:t>
              </a:r>
              <a:r>
                <a:rPr lang="en-US" b="true" sz="3000" strike="noStrike" u="none">
                  <a:solidFill>
                    <a:srgbClr val="FFFFFF"/>
                  </a:solidFill>
                  <a:latin typeface="Canva Sans Bold"/>
                  <a:ea typeface="Canva Sans Bold"/>
                  <a:cs typeface="Canva Sans Bold"/>
                  <a:sym typeface="Canva Sans Bold"/>
                </a:rPr>
                <a:t>n</a:t>
              </a:r>
              <a:r>
                <a:rPr lang="en-US" b="true" sz="3000" strike="noStrike" u="none">
                  <a:solidFill>
                    <a:srgbClr val="FFFFFF"/>
                  </a:solidFill>
                  <a:latin typeface="Canva Sans Bold"/>
                  <a:ea typeface="Canva Sans Bold"/>
                  <a:cs typeface="Canva Sans Bold"/>
                  <a:sym typeface="Canva Sans Bold"/>
                </a:rPr>
                <a:t>et</a:t>
              </a:r>
            </a:p>
            <a:p>
              <a:pPr algn="l" marL="647703" indent="-323852" lvl="1">
                <a:lnSpc>
                  <a:spcPts val="4200"/>
                </a:lnSpc>
                <a:spcBef>
                  <a:spcPct val="0"/>
                </a:spcBef>
                <a:buAutoNum type="arabicPeriod" startAt="1"/>
              </a:pPr>
              <a:r>
                <a:rPr lang="en-US" sz="3000" strike="noStrike" u="none">
                  <a:solidFill>
                    <a:srgbClr val="FFFFFF"/>
                  </a:solidFill>
                  <a:latin typeface="Canva Sans"/>
                  <a:ea typeface="Canva Sans"/>
                  <a:cs typeface="Canva Sans"/>
                  <a:sym typeface="Canva Sans"/>
                </a:rPr>
                <a:t>Pemilihan layanan internet memerlukan penyesuaian antara atribut layanan (seperti QoS, kecepatan, dan biaya) dengan prioritas kebutuhan pengguna yang berbeda-beda.</a:t>
              </a:r>
            </a:p>
            <a:p>
              <a:pPr algn="l">
                <a:lnSpc>
                  <a:spcPts val="4200"/>
                </a:lnSpc>
                <a:spcBef>
                  <a:spcPct val="0"/>
                </a:spcBef>
              </a:pPr>
            </a:p>
            <a:p>
              <a:pPr algn="l" marL="647703" indent="-323852" lvl="1">
                <a:lnSpc>
                  <a:spcPts val="4200"/>
                </a:lnSpc>
                <a:spcBef>
                  <a:spcPct val="0"/>
                </a:spcBef>
                <a:buAutoNum type="arabicPeriod" startAt="1"/>
              </a:pPr>
              <a:r>
                <a:rPr lang="en-US" sz="3000" strike="noStrike" u="none">
                  <a:solidFill>
                    <a:srgbClr val="FFFFFF"/>
                  </a:solidFill>
                  <a:latin typeface="Canva Sans"/>
                  <a:ea typeface="Canva Sans"/>
                  <a:cs typeface="Canva Sans"/>
                  <a:sym typeface="Canva Sans"/>
                </a:rPr>
                <a:t>SMART mamp</a:t>
              </a:r>
              <a:r>
                <a:rPr lang="en-US" sz="3000" strike="noStrike" u="none">
                  <a:solidFill>
                    <a:srgbClr val="FFFFFF"/>
                  </a:solidFill>
                  <a:latin typeface="Canva Sans"/>
                  <a:ea typeface="Canva Sans"/>
                  <a:cs typeface="Canva Sans"/>
                  <a:sym typeface="Canva Sans"/>
                </a:rPr>
                <a:t>u mengkalkulasi skor akhir setiap alternatif layanan secara terukur, menghasilkan peringkat yang logis dan konsisten sesuai dengan prioritas yang telah ditentukan.</a:t>
              </a:r>
            </a:p>
            <a:p>
              <a:pPr algn="just" marL="0" indent="0" lvl="0">
                <a:lnSpc>
                  <a:spcPts val="4200"/>
                </a:lnSpc>
                <a:spcBef>
                  <a:spcPct val="0"/>
                </a:spcBef>
              </a:pP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grpSp>
        <p:nvGrpSpPr>
          <p:cNvPr name="Group 2" id="2"/>
          <p:cNvGrpSpPr/>
          <p:nvPr/>
        </p:nvGrpSpPr>
        <p:grpSpPr>
          <a:xfrm rot="0">
            <a:off x="1331502" y="3147698"/>
            <a:ext cx="6969119" cy="6328105"/>
            <a:chOff x="0" y="0"/>
            <a:chExt cx="1426477" cy="1295271"/>
          </a:xfrm>
        </p:grpSpPr>
        <p:sp>
          <p:nvSpPr>
            <p:cNvPr name="Freeform 3" id="3"/>
            <p:cNvSpPr/>
            <p:nvPr/>
          </p:nvSpPr>
          <p:spPr>
            <a:xfrm flipH="false" flipV="false" rot="0">
              <a:off x="0" y="0"/>
              <a:ext cx="1426477" cy="1295271"/>
            </a:xfrm>
            <a:custGeom>
              <a:avLst/>
              <a:gdLst/>
              <a:ahLst/>
              <a:cxnLst/>
              <a:rect r="r" b="b" t="t" l="l"/>
              <a:pathLst>
                <a:path h="1295271" w="1426477">
                  <a:moveTo>
                    <a:pt x="39992" y="0"/>
                  </a:moveTo>
                  <a:lnTo>
                    <a:pt x="1386485" y="0"/>
                  </a:lnTo>
                  <a:cubicBezTo>
                    <a:pt x="1408572" y="0"/>
                    <a:pt x="1426477" y="17905"/>
                    <a:pt x="1426477" y="39992"/>
                  </a:cubicBezTo>
                  <a:lnTo>
                    <a:pt x="1426477" y="1255279"/>
                  </a:lnTo>
                  <a:cubicBezTo>
                    <a:pt x="1426477" y="1265885"/>
                    <a:pt x="1422263" y="1276057"/>
                    <a:pt x="1414764" y="1283557"/>
                  </a:cubicBezTo>
                  <a:cubicBezTo>
                    <a:pt x="1407264" y="1291057"/>
                    <a:pt x="1397091" y="1295271"/>
                    <a:pt x="1386485" y="1295271"/>
                  </a:cubicBezTo>
                  <a:lnTo>
                    <a:pt x="39992" y="1295271"/>
                  </a:lnTo>
                  <a:cubicBezTo>
                    <a:pt x="17905" y="1295271"/>
                    <a:pt x="0" y="1277366"/>
                    <a:pt x="0" y="1255279"/>
                  </a:cubicBezTo>
                  <a:lnTo>
                    <a:pt x="0" y="39992"/>
                  </a:lnTo>
                  <a:cubicBezTo>
                    <a:pt x="0" y="17905"/>
                    <a:pt x="17905" y="0"/>
                    <a:pt x="39992" y="0"/>
                  </a:cubicBezTo>
                  <a:close/>
                </a:path>
              </a:pathLst>
            </a:custGeom>
            <a:solidFill>
              <a:srgbClr val="F1EDDC"/>
            </a:solidFill>
          </p:spPr>
        </p:sp>
        <p:sp>
          <p:nvSpPr>
            <p:cNvPr name="TextBox 4" id="4"/>
            <p:cNvSpPr txBox="true"/>
            <p:nvPr/>
          </p:nvSpPr>
          <p:spPr>
            <a:xfrm>
              <a:off x="0" y="-38100"/>
              <a:ext cx="1426477" cy="1333371"/>
            </a:xfrm>
            <a:prstGeom prst="rect">
              <a:avLst/>
            </a:prstGeom>
          </p:spPr>
          <p:txBody>
            <a:bodyPr anchor="ctr" rtlCol="false" tIns="47086" lIns="47086" bIns="47086" rIns="47086"/>
            <a:lstStyle/>
            <a:p>
              <a:pPr algn="ctr">
                <a:lnSpc>
                  <a:spcPts val="2659"/>
                </a:lnSpc>
              </a:pPr>
              <a:r>
                <a:rPr lang="en-US" sz="1899">
                  <a:solidFill>
                    <a:srgbClr val="FFFFFF"/>
                  </a:solidFill>
                  <a:latin typeface="Canva Sans"/>
                  <a:ea typeface="Canva Sans"/>
                  <a:cs typeface="Canva Sans"/>
                  <a:sym typeface="Canva Sans"/>
                </a:rPr>
                <a:t>1. </a:t>
              </a:r>
            </a:p>
          </p:txBody>
        </p:sp>
      </p:grpSp>
      <p:sp>
        <p:nvSpPr>
          <p:cNvPr name="Freeform 5" id="5"/>
          <p:cNvSpPr/>
          <p:nvPr/>
        </p:nvSpPr>
        <p:spPr>
          <a:xfrm flipH="false" flipV="false" rot="-10800000">
            <a:off x="-3088284" y="-31476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729465">
            <a:off x="-1999470" y="302158"/>
            <a:ext cx="4317042" cy="4317042"/>
          </a:xfrm>
          <a:custGeom>
            <a:avLst/>
            <a:gdLst/>
            <a:ahLst/>
            <a:cxnLst/>
            <a:rect r="r" b="b" t="t" l="l"/>
            <a:pathLst>
              <a:path h="4317042" w="4317042">
                <a:moveTo>
                  <a:pt x="0" y="0"/>
                </a:moveTo>
                <a:lnTo>
                  <a:pt x="4317042" y="0"/>
                </a:lnTo>
                <a:lnTo>
                  <a:pt x="4317042" y="4317041"/>
                </a:lnTo>
                <a:lnTo>
                  <a:pt x="0" y="4317041"/>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10800000">
            <a:off x="15082007" y="-29952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10729465">
            <a:off x="16034663" y="565897"/>
            <a:ext cx="4390084" cy="4390084"/>
          </a:xfrm>
          <a:custGeom>
            <a:avLst/>
            <a:gdLst/>
            <a:ahLst/>
            <a:cxnLst/>
            <a:rect r="r" b="b" t="t" l="l"/>
            <a:pathLst>
              <a:path h="4390084" w="4390084">
                <a:moveTo>
                  <a:pt x="0" y="0"/>
                </a:moveTo>
                <a:lnTo>
                  <a:pt x="4390083" y="0"/>
                </a:lnTo>
                <a:lnTo>
                  <a:pt x="4390083" y="4390084"/>
                </a:lnTo>
                <a:lnTo>
                  <a:pt x="0" y="439008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1681415" y="1400228"/>
            <a:ext cx="14925171" cy="1060451"/>
          </a:xfrm>
          <a:prstGeom prst="rect">
            <a:avLst/>
          </a:prstGeom>
        </p:spPr>
        <p:txBody>
          <a:bodyPr anchor="t" rtlCol="false" tIns="0" lIns="0" bIns="0" rIns="0">
            <a:spAutoFit/>
          </a:bodyPr>
          <a:lstStyle/>
          <a:p>
            <a:pPr algn="ctr">
              <a:lnSpc>
                <a:spcPts val="8000"/>
              </a:lnSpc>
            </a:pPr>
            <a:r>
              <a:rPr lang="en-US" b="true" sz="8000">
                <a:solidFill>
                  <a:srgbClr val="153969"/>
                </a:solidFill>
                <a:latin typeface="Montserrat Bold"/>
                <a:ea typeface="Montserrat Bold"/>
                <a:cs typeface="Montserrat Bold"/>
                <a:sym typeface="Montserrat Bold"/>
              </a:rPr>
              <a:t>Kelebihan dan Kekurangan</a:t>
            </a:r>
          </a:p>
        </p:txBody>
      </p:sp>
      <p:sp>
        <p:nvSpPr>
          <p:cNvPr name="TextBox 10" id="10"/>
          <p:cNvSpPr txBox="true"/>
          <p:nvPr/>
        </p:nvSpPr>
        <p:spPr>
          <a:xfrm rot="0">
            <a:off x="1622239" y="3431644"/>
            <a:ext cx="6387645" cy="5703062"/>
          </a:xfrm>
          <a:prstGeom prst="rect">
            <a:avLst/>
          </a:prstGeom>
        </p:spPr>
        <p:txBody>
          <a:bodyPr anchor="t" rtlCol="false" tIns="0" lIns="0" bIns="0" rIns="0">
            <a:spAutoFit/>
          </a:bodyPr>
          <a:lstStyle/>
          <a:p>
            <a:pPr algn="l" marL="587247" indent="-293623" lvl="1">
              <a:lnSpc>
                <a:spcPts val="3807"/>
              </a:lnSpc>
              <a:buAutoNum type="arabicPeriod" startAt="1"/>
            </a:pPr>
            <a:r>
              <a:rPr lang="en-US" sz="2719">
                <a:solidFill>
                  <a:srgbClr val="153969"/>
                </a:solidFill>
                <a:latin typeface="Canva Sans"/>
                <a:ea typeface="Canva Sans"/>
                <a:cs typeface="Canva Sans"/>
                <a:sym typeface="Canva Sans"/>
              </a:rPr>
              <a:t>Sederhana &amp; Transparan: Mudah dipahami dan proses perhitungannya jelas.</a:t>
            </a:r>
          </a:p>
          <a:p>
            <a:pPr algn="l">
              <a:lnSpc>
                <a:spcPts val="3807"/>
              </a:lnSpc>
            </a:pPr>
          </a:p>
          <a:p>
            <a:pPr algn="l" marL="587247" indent="-293623" lvl="1">
              <a:lnSpc>
                <a:spcPts val="3807"/>
              </a:lnSpc>
              <a:buAutoNum type="arabicPeriod" startAt="1"/>
            </a:pPr>
            <a:r>
              <a:rPr lang="en-US" sz="2719">
                <a:solidFill>
                  <a:srgbClr val="153969"/>
                </a:solidFill>
                <a:latin typeface="Canva Sans"/>
                <a:ea typeface="Canva Sans"/>
                <a:cs typeface="Canva Sans"/>
                <a:sym typeface="Canva Sans"/>
              </a:rPr>
              <a:t>Fleksibilitas Bobot: Bobot kriteria dapat disesuaikan dengan preferensi pengguna.</a:t>
            </a:r>
          </a:p>
          <a:p>
            <a:pPr algn="l">
              <a:lnSpc>
                <a:spcPts val="3807"/>
              </a:lnSpc>
            </a:pPr>
          </a:p>
          <a:p>
            <a:pPr algn="l" marL="587247" indent="-293623" lvl="1">
              <a:lnSpc>
                <a:spcPts val="3807"/>
              </a:lnSpc>
              <a:spcBef>
                <a:spcPct val="0"/>
              </a:spcBef>
              <a:buAutoNum type="arabicPeriod" startAt="1"/>
            </a:pPr>
            <a:r>
              <a:rPr lang="en-US" sz="2719">
                <a:solidFill>
                  <a:srgbClr val="153969"/>
                </a:solidFill>
                <a:latin typeface="Canva Sans"/>
                <a:ea typeface="Canva Sans"/>
                <a:cs typeface="Canva Sans"/>
                <a:sym typeface="Canva Sans"/>
              </a:rPr>
              <a:t>M</a:t>
            </a:r>
            <a:r>
              <a:rPr lang="en-US" sz="2719">
                <a:solidFill>
                  <a:srgbClr val="153969"/>
                </a:solidFill>
                <a:latin typeface="Canva Sans"/>
                <a:ea typeface="Canva Sans"/>
                <a:cs typeface="Canva Sans"/>
                <a:sym typeface="Canva Sans"/>
              </a:rPr>
              <a:t>enangani Berbagai Satuan: Mampu memproses kriteria dengan satuan yang berbeda-beda secara efektif.</a:t>
            </a:r>
          </a:p>
        </p:txBody>
      </p:sp>
      <p:grpSp>
        <p:nvGrpSpPr>
          <p:cNvPr name="Group 11" id="11"/>
          <p:cNvGrpSpPr/>
          <p:nvPr/>
        </p:nvGrpSpPr>
        <p:grpSpPr>
          <a:xfrm rot="0">
            <a:off x="9144000" y="3147698"/>
            <a:ext cx="6969119" cy="6328105"/>
            <a:chOff x="0" y="0"/>
            <a:chExt cx="1426477" cy="1295271"/>
          </a:xfrm>
        </p:grpSpPr>
        <p:sp>
          <p:nvSpPr>
            <p:cNvPr name="Freeform 12" id="12"/>
            <p:cNvSpPr/>
            <p:nvPr/>
          </p:nvSpPr>
          <p:spPr>
            <a:xfrm flipH="false" flipV="false" rot="0">
              <a:off x="0" y="0"/>
              <a:ext cx="1426477" cy="1295271"/>
            </a:xfrm>
            <a:custGeom>
              <a:avLst/>
              <a:gdLst/>
              <a:ahLst/>
              <a:cxnLst/>
              <a:rect r="r" b="b" t="t" l="l"/>
              <a:pathLst>
                <a:path h="1295271" w="1426477">
                  <a:moveTo>
                    <a:pt x="39992" y="0"/>
                  </a:moveTo>
                  <a:lnTo>
                    <a:pt x="1386485" y="0"/>
                  </a:lnTo>
                  <a:cubicBezTo>
                    <a:pt x="1408572" y="0"/>
                    <a:pt x="1426477" y="17905"/>
                    <a:pt x="1426477" y="39992"/>
                  </a:cubicBezTo>
                  <a:lnTo>
                    <a:pt x="1426477" y="1255279"/>
                  </a:lnTo>
                  <a:cubicBezTo>
                    <a:pt x="1426477" y="1265885"/>
                    <a:pt x="1422263" y="1276057"/>
                    <a:pt x="1414764" y="1283557"/>
                  </a:cubicBezTo>
                  <a:cubicBezTo>
                    <a:pt x="1407264" y="1291057"/>
                    <a:pt x="1397091" y="1295271"/>
                    <a:pt x="1386485" y="1295271"/>
                  </a:cubicBezTo>
                  <a:lnTo>
                    <a:pt x="39992" y="1295271"/>
                  </a:lnTo>
                  <a:cubicBezTo>
                    <a:pt x="17905" y="1295271"/>
                    <a:pt x="0" y="1277366"/>
                    <a:pt x="0" y="1255279"/>
                  </a:cubicBezTo>
                  <a:lnTo>
                    <a:pt x="0" y="39992"/>
                  </a:lnTo>
                  <a:cubicBezTo>
                    <a:pt x="0" y="17905"/>
                    <a:pt x="17905" y="0"/>
                    <a:pt x="39992" y="0"/>
                  </a:cubicBezTo>
                  <a:close/>
                </a:path>
              </a:pathLst>
            </a:custGeom>
            <a:solidFill>
              <a:srgbClr val="F1EDDC"/>
            </a:solidFill>
          </p:spPr>
        </p:sp>
        <p:sp>
          <p:nvSpPr>
            <p:cNvPr name="TextBox 13" id="13"/>
            <p:cNvSpPr txBox="true"/>
            <p:nvPr/>
          </p:nvSpPr>
          <p:spPr>
            <a:xfrm>
              <a:off x="0" y="-38100"/>
              <a:ext cx="1426477" cy="1333371"/>
            </a:xfrm>
            <a:prstGeom prst="rect">
              <a:avLst/>
            </a:prstGeom>
          </p:spPr>
          <p:txBody>
            <a:bodyPr anchor="ctr" rtlCol="false" tIns="47086" lIns="47086" bIns="47086" rIns="47086"/>
            <a:lstStyle/>
            <a:p>
              <a:pPr algn="ctr">
                <a:lnSpc>
                  <a:spcPts val="2659"/>
                </a:lnSpc>
              </a:pPr>
              <a:r>
                <a:rPr lang="en-US" sz="1899">
                  <a:solidFill>
                    <a:srgbClr val="FFFFFF"/>
                  </a:solidFill>
                  <a:latin typeface="Canva Sans"/>
                  <a:ea typeface="Canva Sans"/>
                  <a:cs typeface="Canva Sans"/>
                  <a:sym typeface="Canva Sans"/>
                </a:rPr>
                <a:t>1. </a:t>
              </a:r>
            </a:p>
          </p:txBody>
        </p:sp>
      </p:grpSp>
      <p:sp>
        <p:nvSpPr>
          <p:cNvPr name="TextBox 14" id="14"/>
          <p:cNvSpPr txBox="true"/>
          <p:nvPr/>
        </p:nvSpPr>
        <p:spPr>
          <a:xfrm rot="0">
            <a:off x="9434737" y="3242948"/>
            <a:ext cx="6387645" cy="5934202"/>
          </a:xfrm>
          <a:prstGeom prst="rect">
            <a:avLst/>
          </a:prstGeom>
        </p:spPr>
        <p:txBody>
          <a:bodyPr anchor="t" rtlCol="false" tIns="0" lIns="0" bIns="0" rIns="0">
            <a:spAutoFit/>
          </a:bodyPr>
          <a:lstStyle/>
          <a:p>
            <a:pPr algn="l" marL="565657" indent="-282829" lvl="1">
              <a:lnSpc>
                <a:spcPts val="3667"/>
              </a:lnSpc>
              <a:buAutoNum type="arabicPeriod" startAt="1"/>
            </a:pPr>
            <a:r>
              <a:rPr lang="en-US" sz="2619">
                <a:solidFill>
                  <a:srgbClr val="153969"/>
                </a:solidFill>
                <a:latin typeface="Canva Sans"/>
                <a:ea typeface="Canva Sans"/>
                <a:cs typeface="Canva Sans"/>
                <a:sym typeface="Canva Sans"/>
              </a:rPr>
              <a:t>Subjektivitas Tinggi: Hasil sangat bergantung pada bobot yang ditentukan pengguna, sehingga rentan bias.</a:t>
            </a:r>
          </a:p>
          <a:p>
            <a:pPr algn="l">
              <a:lnSpc>
                <a:spcPts val="3667"/>
              </a:lnSpc>
            </a:pPr>
          </a:p>
          <a:p>
            <a:pPr algn="l" marL="565657" indent="-282829" lvl="1">
              <a:lnSpc>
                <a:spcPts val="3667"/>
              </a:lnSpc>
              <a:buAutoNum type="arabicPeriod" startAt="1"/>
            </a:pPr>
            <a:r>
              <a:rPr lang="en-US" sz="2619">
                <a:solidFill>
                  <a:srgbClr val="153969"/>
                </a:solidFill>
                <a:latin typeface="Canva Sans"/>
                <a:ea typeface="Canva Sans"/>
                <a:cs typeface="Canva Sans"/>
                <a:sym typeface="Canva Sans"/>
              </a:rPr>
              <a:t>Kurang Optimal untuk Kompleksitas Tinggi: Kurang kuat jika kriteria yang digunakan terlalu banyak dan rumit.</a:t>
            </a:r>
          </a:p>
          <a:p>
            <a:pPr algn="l">
              <a:lnSpc>
                <a:spcPts val="3667"/>
              </a:lnSpc>
            </a:pPr>
          </a:p>
          <a:p>
            <a:pPr algn="l" marL="565657" indent="-282829" lvl="1">
              <a:lnSpc>
                <a:spcPts val="3667"/>
              </a:lnSpc>
              <a:spcBef>
                <a:spcPct val="0"/>
              </a:spcBef>
              <a:buAutoNum type="arabicPeriod" startAt="1"/>
            </a:pPr>
            <a:r>
              <a:rPr lang="en-US" sz="2619">
                <a:solidFill>
                  <a:srgbClr val="153969"/>
                </a:solidFill>
                <a:latin typeface="Canva Sans"/>
                <a:ea typeface="Canva Sans"/>
                <a:cs typeface="Canva Sans"/>
                <a:sym typeface="Canva Sans"/>
              </a:rPr>
              <a:t>Sensitif terhadap Perubahan: Sedikit perubahan pada bobot dapat mengubah hasil peringkat secara signifikan.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3088284" y="-31476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994591" y="297177"/>
            <a:ext cx="4797613" cy="4797613"/>
          </a:xfrm>
          <a:custGeom>
            <a:avLst/>
            <a:gdLst/>
            <a:ahLst/>
            <a:cxnLst/>
            <a:rect r="r" b="b" t="t" l="l"/>
            <a:pathLst>
              <a:path h="4797613" w="4797613">
                <a:moveTo>
                  <a:pt x="0" y="0"/>
                </a:moveTo>
                <a:lnTo>
                  <a:pt x="4797613" y="0"/>
                </a:lnTo>
                <a:lnTo>
                  <a:pt x="4797613"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800000">
            <a:off x="15082007" y="-2995298"/>
            <a:ext cx="6295395" cy="6295395"/>
          </a:xfrm>
          <a:custGeom>
            <a:avLst/>
            <a:gdLst/>
            <a:ahLst/>
            <a:cxnLst/>
            <a:rect r="r" b="b" t="t" l="l"/>
            <a:pathLst>
              <a:path h="6295395" w="6295395">
                <a:moveTo>
                  <a:pt x="0" y="0"/>
                </a:moveTo>
                <a:lnTo>
                  <a:pt x="6295395" y="0"/>
                </a:lnTo>
                <a:lnTo>
                  <a:pt x="6295395" y="6295396"/>
                </a:lnTo>
                <a:lnTo>
                  <a:pt x="0" y="629539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084932" y="449577"/>
            <a:ext cx="4797613" cy="4797613"/>
          </a:xfrm>
          <a:custGeom>
            <a:avLst/>
            <a:gdLst/>
            <a:ahLst/>
            <a:cxnLst/>
            <a:rect r="r" b="b" t="t" l="l"/>
            <a:pathLst>
              <a:path h="4797613" w="4797613">
                <a:moveTo>
                  <a:pt x="0" y="0"/>
                </a:moveTo>
                <a:lnTo>
                  <a:pt x="4797613" y="0"/>
                </a:lnTo>
                <a:lnTo>
                  <a:pt x="4797613"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249504" y="1490348"/>
            <a:ext cx="22787008" cy="895350"/>
          </a:xfrm>
          <a:prstGeom prst="rect">
            <a:avLst/>
          </a:prstGeom>
        </p:spPr>
        <p:txBody>
          <a:bodyPr anchor="t" rtlCol="false" tIns="0" lIns="0" bIns="0" rIns="0">
            <a:spAutoFit/>
          </a:bodyPr>
          <a:lstStyle/>
          <a:p>
            <a:pPr algn="ctr">
              <a:lnSpc>
                <a:spcPts val="6600"/>
              </a:lnSpc>
            </a:pPr>
            <a:r>
              <a:rPr lang="en-US" b="true" sz="6000">
                <a:solidFill>
                  <a:srgbClr val="153969"/>
                </a:solidFill>
                <a:latin typeface="Times New Roman Bold"/>
                <a:ea typeface="Times New Roman Bold"/>
                <a:cs typeface="Times New Roman Bold"/>
                <a:sym typeface="Times New Roman Bold"/>
              </a:rPr>
              <a:t>Keterangan Skala Penilaian Kriteria</a:t>
            </a:r>
          </a:p>
        </p:txBody>
      </p:sp>
      <p:grpSp>
        <p:nvGrpSpPr>
          <p:cNvPr name="Group 7" id="7"/>
          <p:cNvGrpSpPr/>
          <p:nvPr/>
        </p:nvGrpSpPr>
        <p:grpSpPr>
          <a:xfrm rot="0">
            <a:off x="404216" y="3147698"/>
            <a:ext cx="8358467" cy="2432050"/>
            <a:chOff x="0" y="0"/>
            <a:chExt cx="2201407" cy="640540"/>
          </a:xfrm>
        </p:grpSpPr>
        <p:sp>
          <p:nvSpPr>
            <p:cNvPr name="Freeform 8" id="8"/>
            <p:cNvSpPr/>
            <p:nvPr/>
          </p:nvSpPr>
          <p:spPr>
            <a:xfrm flipH="false" flipV="false" rot="0">
              <a:off x="0" y="0"/>
              <a:ext cx="2201407" cy="640540"/>
            </a:xfrm>
            <a:custGeom>
              <a:avLst/>
              <a:gdLst/>
              <a:ahLst/>
              <a:cxnLst/>
              <a:rect r="r" b="b" t="t" l="l"/>
              <a:pathLst>
                <a:path h="640540" w="2201407">
                  <a:moveTo>
                    <a:pt x="18525" y="0"/>
                  </a:moveTo>
                  <a:lnTo>
                    <a:pt x="2182882" y="0"/>
                  </a:lnTo>
                  <a:cubicBezTo>
                    <a:pt x="2187795" y="0"/>
                    <a:pt x="2192507" y="1952"/>
                    <a:pt x="2195981" y="5426"/>
                  </a:cubicBezTo>
                  <a:cubicBezTo>
                    <a:pt x="2199455" y="8900"/>
                    <a:pt x="2201407" y="13612"/>
                    <a:pt x="2201407" y="18525"/>
                  </a:cubicBezTo>
                  <a:lnTo>
                    <a:pt x="2201407" y="622015"/>
                  </a:lnTo>
                  <a:cubicBezTo>
                    <a:pt x="2201407" y="626928"/>
                    <a:pt x="2199455" y="631640"/>
                    <a:pt x="2195981" y="635114"/>
                  </a:cubicBezTo>
                  <a:cubicBezTo>
                    <a:pt x="2192507" y="638588"/>
                    <a:pt x="2187795" y="640540"/>
                    <a:pt x="2182882" y="640540"/>
                  </a:cubicBezTo>
                  <a:lnTo>
                    <a:pt x="18525" y="640540"/>
                  </a:lnTo>
                  <a:cubicBezTo>
                    <a:pt x="13612" y="640540"/>
                    <a:pt x="8900" y="638588"/>
                    <a:pt x="5426" y="635114"/>
                  </a:cubicBezTo>
                  <a:cubicBezTo>
                    <a:pt x="1952" y="631640"/>
                    <a:pt x="0" y="626928"/>
                    <a:pt x="0" y="622015"/>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9" id="9"/>
            <p:cNvSpPr txBox="true"/>
            <p:nvPr/>
          </p:nvSpPr>
          <p:spPr>
            <a:xfrm>
              <a:off x="0" y="-47625"/>
              <a:ext cx="2201407" cy="688165"/>
            </a:xfrm>
            <a:prstGeom prst="rect">
              <a:avLst/>
            </a:prstGeom>
          </p:spPr>
          <p:txBody>
            <a:bodyPr anchor="ctr" rtlCol="false" tIns="50800" lIns="50800" bIns="50800" rIns="50800"/>
            <a:lstStyle/>
            <a:p>
              <a:pPr algn="just" marL="0" indent="0" lvl="0">
                <a:lnSpc>
                  <a:spcPts val="2800"/>
                </a:lnSpc>
                <a:spcBef>
                  <a:spcPct val="0"/>
                </a:spcBef>
              </a:pPr>
            </a:p>
          </p:txBody>
        </p:sp>
      </p:grpSp>
      <p:sp>
        <p:nvSpPr>
          <p:cNvPr name="TextBox 10" id="10"/>
          <p:cNvSpPr txBox="true"/>
          <p:nvPr/>
        </p:nvSpPr>
        <p:spPr>
          <a:xfrm rot="0">
            <a:off x="525799" y="3338198"/>
            <a:ext cx="8115300" cy="1993900"/>
          </a:xfrm>
          <a:prstGeom prst="rect">
            <a:avLst/>
          </a:prstGeom>
        </p:spPr>
        <p:txBody>
          <a:bodyPr anchor="t" rtlCol="false" tIns="0" lIns="0" bIns="0" rIns="0">
            <a:spAutoFit/>
          </a:bodyPr>
          <a:lstStyle/>
          <a:p>
            <a:pPr algn="l">
              <a:lnSpc>
                <a:spcPts val="2000"/>
              </a:lnSpc>
              <a:spcBef>
                <a:spcPct val="0"/>
              </a:spcBef>
            </a:pPr>
            <a:r>
              <a:rPr lang="en-US" sz="2000">
                <a:solidFill>
                  <a:srgbClr val="FFFFFF"/>
                </a:solidFill>
                <a:latin typeface="Montserrat"/>
                <a:ea typeface="Montserrat"/>
                <a:cs typeface="Montserrat"/>
                <a:sym typeface="Montserrat"/>
              </a:rPr>
              <a:t>C1: Harga Paket (Cost)</a:t>
            </a:r>
          </a:p>
          <a:p>
            <a:pPr algn="l">
              <a:lnSpc>
                <a:spcPts val="2000"/>
              </a:lnSpc>
              <a:spcBef>
                <a:spcPct val="0"/>
              </a:spcBef>
            </a:pPr>
          </a:p>
          <a:p>
            <a:pPr algn="l">
              <a:lnSpc>
                <a:spcPts val="2000"/>
              </a:lnSpc>
              <a:spcBef>
                <a:spcPct val="0"/>
              </a:spcBef>
            </a:pPr>
            <a:r>
              <a:rPr lang="en-US" sz="2000">
                <a:solidFill>
                  <a:srgbClr val="FFFFFF"/>
                </a:solidFill>
                <a:latin typeface="Montserrat"/>
                <a:ea typeface="Montserrat"/>
                <a:cs typeface="Montserrat"/>
                <a:sym typeface="Montserrat"/>
              </a:rPr>
              <a:t>Skala 5: Kurang dari atau sama dengan Rp300.000 (Keterangan: Sangat Murah).</a:t>
            </a:r>
          </a:p>
          <a:p>
            <a:pPr algn="l">
              <a:lnSpc>
                <a:spcPts val="2000"/>
              </a:lnSpc>
              <a:spcBef>
                <a:spcPct val="0"/>
              </a:spcBef>
            </a:pPr>
            <a:r>
              <a:rPr lang="en-US" sz="2000">
                <a:solidFill>
                  <a:srgbClr val="FFFFFF"/>
                </a:solidFill>
                <a:latin typeface="Montserrat"/>
                <a:ea typeface="Montserrat"/>
                <a:cs typeface="Montserrat"/>
                <a:sym typeface="Montserrat"/>
              </a:rPr>
              <a:t>Skala 4: Rp300.001 sampai Rp350.000 (Keterangan: Murah).</a:t>
            </a:r>
          </a:p>
          <a:p>
            <a:pPr algn="l">
              <a:lnSpc>
                <a:spcPts val="2000"/>
              </a:lnSpc>
              <a:spcBef>
                <a:spcPct val="0"/>
              </a:spcBef>
            </a:pPr>
            <a:r>
              <a:rPr lang="en-US" sz="2000">
                <a:solidFill>
                  <a:srgbClr val="FFFFFF"/>
                </a:solidFill>
                <a:latin typeface="Montserrat"/>
                <a:ea typeface="Montserrat"/>
                <a:cs typeface="Montserrat"/>
                <a:sym typeface="Montserrat"/>
              </a:rPr>
              <a:t>Skala 3: Rp350.001 sampai Rp400.000 (Keterangan: Standar).</a:t>
            </a:r>
          </a:p>
          <a:p>
            <a:pPr algn="l">
              <a:lnSpc>
                <a:spcPts val="2000"/>
              </a:lnSpc>
              <a:spcBef>
                <a:spcPct val="0"/>
              </a:spcBef>
            </a:pPr>
            <a:r>
              <a:rPr lang="en-US" sz="2000">
                <a:solidFill>
                  <a:srgbClr val="FFFFFF"/>
                </a:solidFill>
                <a:latin typeface="Montserrat"/>
                <a:ea typeface="Montserrat"/>
                <a:cs typeface="Montserrat"/>
                <a:sym typeface="Montserrat"/>
              </a:rPr>
              <a:t>Skala 2: Rp400.001 sampai Rp500.000 (Keterangan: Mahal).</a:t>
            </a:r>
          </a:p>
          <a:p>
            <a:pPr algn="l">
              <a:lnSpc>
                <a:spcPts val="2000"/>
              </a:lnSpc>
              <a:spcBef>
                <a:spcPct val="0"/>
              </a:spcBef>
            </a:pPr>
            <a:r>
              <a:rPr lang="en-US" sz="2000">
                <a:solidFill>
                  <a:srgbClr val="FFFFFF"/>
                </a:solidFill>
                <a:latin typeface="Montserrat"/>
                <a:ea typeface="Montserrat"/>
                <a:cs typeface="Montserrat"/>
                <a:sym typeface="Montserrat"/>
              </a:rPr>
              <a:t>Skala 1: Lebih dari Rp500.000 (Keterangan: Sangat Mahal).</a:t>
            </a:r>
          </a:p>
        </p:txBody>
      </p:sp>
      <p:grpSp>
        <p:nvGrpSpPr>
          <p:cNvPr name="Group 11" id="11"/>
          <p:cNvGrpSpPr/>
          <p:nvPr/>
        </p:nvGrpSpPr>
        <p:grpSpPr>
          <a:xfrm rot="0">
            <a:off x="9344932" y="3147698"/>
            <a:ext cx="8358467" cy="2432050"/>
            <a:chOff x="0" y="0"/>
            <a:chExt cx="2201407" cy="640540"/>
          </a:xfrm>
        </p:grpSpPr>
        <p:sp>
          <p:nvSpPr>
            <p:cNvPr name="Freeform 12" id="12"/>
            <p:cNvSpPr/>
            <p:nvPr/>
          </p:nvSpPr>
          <p:spPr>
            <a:xfrm flipH="false" flipV="false" rot="0">
              <a:off x="0" y="0"/>
              <a:ext cx="2201407" cy="640540"/>
            </a:xfrm>
            <a:custGeom>
              <a:avLst/>
              <a:gdLst/>
              <a:ahLst/>
              <a:cxnLst/>
              <a:rect r="r" b="b" t="t" l="l"/>
              <a:pathLst>
                <a:path h="640540" w="2201407">
                  <a:moveTo>
                    <a:pt x="18525" y="0"/>
                  </a:moveTo>
                  <a:lnTo>
                    <a:pt x="2182882" y="0"/>
                  </a:lnTo>
                  <a:cubicBezTo>
                    <a:pt x="2187795" y="0"/>
                    <a:pt x="2192507" y="1952"/>
                    <a:pt x="2195981" y="5426"/>
                  </a:cubicBezTo>
                  <a:cubicBezTo>
                    <a:pt x="2199455" y="8900"/>
                    <a:pt x="2201407" y="13612"/>
                    <a:pt x="2201407" y="18525"/>
                  </a:cubicBezTo>
                  <a:lnTo>
                    <a:pt x="2201407" y="622015"/>
                  </a:lnTo>
                  <a:cubicBezTo>
                    <a:pt x="2201407" y="626928"/>
                    <a:pt x="2199455" y="631640"/>
                    <a:pt x="2195981" y="635114"/>
                  </a:cubicBezTo>
                  <a:cubicBezTo>
                    <a:pt x="2192507" y="638588"/>
                    <a:pt x="2187795" y="640540"/>
                    <a:pt x="2182882" y="640540"/>
                  </a:cubicBezTo>
                  <a:lnTo>
                    <a:pt x="18525" y="640540"/>
                  </a:lnTo>
                  <a:cubicBezTo>
                    <a:pt x="13612" y="640540"/>
                    <a:pt x="8900" y="638588"/>
                    <a:pt x="5426" y="635114"/>
                  </a:cubicBezTo>
                  <a:cubicBezTo>
                    <a:pt x="1952" y="631640"/>
                    <a:pt x="0" y="626928"/>
                    <a:pt x="0" y="622015"/>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13" id="13"/>
            <p:cNvSpPr txBox="true"/>
            <p:nvPr/>
          </p:nvSpPr>
          <p:spPr>
            <a:xfrm>
              <a:off x="0" y="-47625"/>
              <a:ext cx="2201407" cy="688165"/>
            </a:xfrm>
            <a:prstGeom prst="rect">
              <a:avLst/>
            </a:prstGeom>
          </p:spPr>
          <p:txBody>
            <a:bodyPr anchor="ctr" rtlCol="false" tIns="50800" lIns="50800" bIns="50800" rIns="50800"/>
            <a:lstStyle/>
            <a:p>
              <a:pPr algn="just" marL="0" indent="0" lvl="0">
                <a:lnSpc>
                  <a:spcPts val="2800"/>
                </a:lnSpc>
                <a:spcBef>
                  <a:spcPct val="0"/>
                </a:spcBef>
              </a:pPr>
            </a:p>
          </p:txBody>
        </p:sp>
      </p:grpSp>
      <p:sp>
        <p:nvSpPr>
          <p:cNvPr name="TextBox 14" id="14"/>
          <p:cNvSpPr txBox="true"/>
          <p:nvPr/>
        </p:nvSpPr>
        <p:spPr>
          <a:xfrm rot="0">
            <a:off x="9466515" y="3338198"/>
            <a:ext cx="8115300" cy="2489200"/>
          </a:xfrm>
          <a:prstGeom prst="rect">
            <a:avLst/>
          </a:prstGeom>
        </p:spPr>
        <p:txBody>
          <a:bodyPr anchor="t" rtlCol="false" tIns="0" lIns="0" bIns="0" rIns="0">
            <a:spAutoFit/>
          </a:bodyPr>
          <a:lstStyle/>
          <a:p>
            <a:pPr algn="l">
              <a:lnSpc>
                <a:spcPts val="2000"/>
              </a:lnSpc>
              <a:spcBef>
                <a:spcPct val="0"/>
              </a:spcBef>
            </a:pPr>
            <a:r>
              <a:rPr lang="en-US" sz="2000">
                <a:solidFill>
                  <a:srgbClr val="FFFFFF"/>
                </a:solidFill>
                <a:latin typeface="Montserrat"/>
                <a:ea typeface="Montserrat"/>
                <a:cs typeface="Montserrat"/>
                <a:sym typeface="Montserrat"/>
              </a:rPr>
              <a:t>C2: Kecepatan / Speed (Benefit)</a:t>
            </a:r>
          </a:p>
          <a:p>
            <a:pPr algn="l">
              <a:lnSpc>
                <a:spcPts val="2000"/>
              </a:lnSpc>
              <a:spcBef>
                <a:spcPct val="0"/>
              </a:spcBef>
            </a:pPr>
          </a:p>
          <a:p>
            <a:pPr algn="l">
              <a:lnSpc>
                <a:spcPts val="2000"/>
              </a:lnSpc>
            </a:pPr>
            <a:r>
              <a:rPr lang="en-US" sz="2000">
                <a:solidFill>
                  <a:srgbClr val="FFFFFF"/>
                </a:solidFill>
                <a:latin typeface="Montserrat"/>
                <a:ea typeface="Montserrat"/>
                <a:cs typeface="Montserrat"/>
                <a:sym typeface="Montserrat"/>
              </a:rPr>
              <a:t>Skala 5: Lebih dari atau sama dengan 50 Mbps (Keterangan: Sangat Cepat).</a:t>
            </a:r>
          </a:p>
          <a:p>
            <a:pPr algn="l">
              <a:lnSpc>
                <a:spcPts val="2000"/>
              </a:lnSpc>
            </a:pPr>
            <a:r>
              <a:rPr lang="en-US" sz="2000">
                <a:solidFill>
                  <a:srgbClr val="FFFFFF"/>
                </a:solidFill>
                <a:latin typeface="Montserrat"/>
                <a:ea typeface="Montserrat"/>
                <a:cs typeface="Montserrat"/>
                <a:sym typeface="Montserrat"/>
              </a:rPr>
              <a:t>Skala 4: 30 sampai 49 Mbps (Keterangan: Cepat).</a:t>
            </a:r>
          </a:p>
          <a:p>
            <a:pPr algn="l">
              <a:lnSpc>
                <a:spcPts val="2000"/>
              </a:lnSpc>
            </a:pPr>
            <a:r>
              <a:rPr lang="en-US" sz="2000">
                <a:solidFill>
                  <a:srgbClr val="FFFFFF"/>
                </a:solidFill>
                <a:latin typeface="Montserrat"/>
                <a:ea typeface="Montserrat"/>
                <a:cs typeface="Montserrat"/>
                <a:sym typeface="Montserrat"/>
              </a:rPr>
              <a:t>Skala 3: 25 sampai 29 Mbps (Keterangan: Cukup Cepat).</a:t>
            </a:r>
          </a:p>
          <a:p>
            <a:pPr algn="l">
              <a:lnSpc>
                <a:spcPts val="2000"/>
              </a:lnSpc>
            </a:pPr>
            <a:r>
              <a:rPr lang="en-US" sz="2000">
                <a:solidFill>
                  <a:srgbClr val="FFFFFF"/>
                </a:solidFill>
                <a:latin typeface="Montserrat"/>
                <a:ea typeface="Montserrat"/>
                <a:cs typeface="Montserrat"/>
                <a:sym typeface="Montserrat"/>
              </a:rPr>
              <a:t>Skala 2: 20 sampai 24 Mbps (Keterangan: Standar).</a:t>
            </a:r>
          </a:p>
          <a:p>
            <a:pPr algn="l">
              <a:lnSpc>
                <a:spcPts val="2000"/>
              </a:lnSpc>
            </a:pPr>
            <a:r>
              <a:rPr lang="en-US" sz="2000">
                <a:solidFill>
                  <a:srgbClr val="FFFFFF"/>
                </a:solidFill>
                <a:latin typeface="Montserrat"/>
                <a:ea typeface="Montserrat"/>
                <a:cs typeface="Montserrat"/>
                <a:sym typeface="Montserrat"/>
              </a:rPr>
              <a:t>Skala 1: Kurang dari 20 Mbps (Keterangan: Lambat).</a:t>
            </a:r>
          </a:p>
          <a:p>
            <a:pPr algn="l">
              <a:lnSpc>
                <a:spcPts val="2000"/>
              </a:lnSpc>
              <a:spcBef>
                <a:spcPct val="0"/>
              </a:spcBef>
            </a:pPr>
          </a:p>
          <a:p>
            <a:pPr algn="l">
              <a:lnSpc>
                <a:spcPts val="2000"/>
              </a:lnSpc>
              <a:spcBef>
                <a:spcPct val="0"/>
              </a:spcBef>
            </a:pPr>
          </a:p>
        </p:txBody>
      </p:sp>
      <p:grpSp>
        <p:nvGrpSpPr>
          <p:cNvPr name="Group 15" id="15"/>
          <p:cNvGrpSpPr/>
          <p:nvPr/>
        </p:nvGrpSpPr>
        <p:grpSpPr>
          <a:xfrm rot="0">
            <a:off x="404216" y="6095232"/>
            <a:ext cx="8358467" cy="2432050"/>
            <a:chOff x="0" y="0"/>
            <a:chExt cx="2201407" cy="640540"/>
          </a:xfrm>
        </p:grpSpPr>
        <p:sp>
          <p:nvSpPr>
            <p:cNvPr name="Freeform 16" id="16"/>
            <p:cNvSpPr/>
            <p:nvPr/>
          </p:nvSpPr>
          <p:spPr>
            <a:xfrm flipH="false" flipV="false" rot="0">
              <a:off x="0" y="0"/>
              <a:ext cx="2201407" cy="640540"/>
            </a:xfrm>
            <a:custGeom>
              <a:avLst/>
              <a:gdLst/>
              <a:ahLst/>
              <a:cxnLst/>
              <a:rect r="r" b="b" t="t" l="l"/>
              <a:pathLst>
                <a:path h="640540" w="2201407">
                  <a:moveTo>
                    <a:pt x="18525" y="0"/>
                  </a:moveTo>
                  <a:lnTo>
                    <a:pt x="2182882" y="0"/>
                  </a:lnTo>
                  <a:cubicBezTo>
                    <a:pt x="2187795" y="0"/>
                    <a:pt x="2192507" y="1952"/>
                    <a:pt x="2195981" y="5426"/>
                  </a:cubicBezTo>
                  <a:cubicBezTo>
                    <a:pt x="2199455" y="8900"/>
                    <a:pt x="2201407" y="13612"/>
                    <a:pt x="2201407" y="18525"/>
                  </a:cubicBezTo>
                  <a:lnTo>
                    <a:pt x="2201407" y="622015"/>
                  </a:lnTo>
                  <a:cubicBezTo>
                    <a:pt x="2201407" y="626928"/>
                    <a:pt x="2199455" y="631640"/>
                    <a:pt x="2195981" y="635114"/>
                  </a:cubicBezTo>
                  <a:cubicBezTo>
                    <a:pt x="2192507" y="638588"/>
                    <a:pt x="2187795" y="640540"/>
                    <a:pt x="2182882" y="640540"/>
                  </a:cubicBezTo>
                  <a:lnTo>
                    <a:pt x="18525" y="640540"/>
                  </a:lnTo>
                  <a:cubicBezTo>
                    <a:pt x="13612" y="640540"/>
                    <a:pt x="8900" y="638588"/>
                    <a:pt x="5426" y="635114"/>
                  </a:cubicBezTo>
                  <a:cubicBezTo>
                    <a:pt x="1952" y="631640"/>
                    <a:pt x="0" y="626928"/>
                    <a:pt x="0" y="622015"/>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17" id="17"/>
            <p:cNvSpPr txBox="true"/>
            <p:nvPr/>
          </p:nvSpPr>
          <p:spPr>
            <a:xfrm>
              <a:off x="0" y="-47625"/>
              <a:ext cx="2201407" cy="688165"/>
            </a:xfrm>
            <a:prstGeom prst="rect">
              <a:avLst/>
            </a:prstGeom>
          </p:spPr>
          <p:txBody>
            <a:bodyPr anchor="ctr" rtlCol="false" tIns="50800" lIns="50800" bIns="50800" rIns="50800"/>
            <a:lstStyle/>
            <a:p>
              <a:pPr algn="just" marL="0" indent="0" lvl="0">
                <a:lnSpc>
                  <a:spcPts val="2800"/>
                </a:lnSpc>
                <a:spcBef>
                  <a:spcPct val="0"/>
                </a:spcBef>
              </a:pPr>
            </a:p>
          </p:txBody>
        </p:sp>
      </p:grpSp>
      <p:sp>
        <p:nvSpPr>
          <p:cNvPr name="TextBox 18" id="18"/>
          <p:cNvSpPr txBox="true"/>
          <p:nvPr/>
        </p:nvSpPr>
        <p:spPr>
          <a:xfrm rot="0">
            <a:off x="525799" y="6285732"/>
            <a:ext cx="8115300" cy="2241550"/>
          </a:xfrm>
          <a:prstGeom prst="rect">
            <a:avLst/>
          </a:prstGeom>
        </p:spPr>
        <p:txBody>
          <a:bodyPr anchor="t" rtlCol="false" tIns="0" lIns="0" bIns="0" rIns="0">
            <a:spAutoFit/>
          </a:bodyPr>
          <a:lstStyle/>
          <a:p>
            <a:pPr algn="l">
              <a:lnSpc>
                <a:spcPts val="2000"/>
              </a:lnSpc>
              <a:spcBef>
                <a:spcPct val="0"/>
              </a:spcBef>
            </a:pPr>
            <a:r>
              <a:rPr lang="en-US" sz="2000">
                <a:solidFill>
                  <a:srgbClr val="FFFFFF"/>
                </a:solidFill>
                <a:latin typeface="Montserrat"/>
                <a:ea typeface="Montserrat"/>
                <a:cs typeface="Montserrat"/>
                <a:sym typeface="Montserrat"/>
              </a:rPr>
              <a:t>C3: Kuota / FUP (Benefit)</a:t>
            </a:r>
          </a:p>
          <a:p>
            <a:pPr algn="l">
              <a:lnSpc>
                <a:spcPts val="2000"/>
              </a:lnSpc>
              <a:spcBef>
                <a:spcPct val="0"/>
              </a:spcBef>
            </a:pPr>
          </a:p>
          <a:p>
            <a:pPr algn="l">
              <a:lnSpc>
                <a:spcPts val="2000"/>
              </a:lnSpc>
            </a:pPr>
            <a:r>
              <a:rPr lang="en-US" sz="2000">
                <a:solidFill>
                  <a:srgbClr val="FFFFFF"/>
                </a:solidFill>
                <a:latin typeface="Montserrat"/>
                <a:ea typeface="Montserrat"/>
                <a:cs typeface="Montserrat"/>
                <a:sym typeface="Montserrat"/>
              </a:rPr>
              <a:t>Skala 5: Lebih dari atau sama dengan 500 GB (Keterangan: Sangat Besar).</a:t>
            </a:r>
          </a:p>
          <a:p>
            <a:pPr algn="l">
              <a:lnSpc>
                <a:spcPts val="2000"/>
              </a:lnSpc>
            </a:pPr>
            <a:r>
              <a:rPr lang="en-US" sz="2000">
                <a:solidFill>
                  <a:srgbClr val="FFFFFF"/>
                </a:solidFill>
                <a:latin typeface="Montserrat"/>
                <a:ea typeface="Montserrat"/>
                <a:cs typeface="Montserrat"/>
                <a:sym typeface="Montserrat"/>
              </a:rPr>
              <a:t>Skala 4: 150 sampai 499 GB (Keterangan: Besar).</a:t>
            </a:r>
          </a:p>
          <a:p>
            <a:pPr algn="l">
              <a:lnSpc>
                <a:spcPts val="2000"/>
              </a:lnSpc>
            </a:pPr>
            <a:r>
              <a:rPr lang="en-US" sz="2000">
                <a:solidFill>
                  <a:srgbClr val="FFFFFF"/>
                </a:solidFill>
                <a:latin typeface="Montserrat"/>
                <a:ea typeface="Montserrat"/>
                <a:cs typeface="Montserrat"/>
                <a:sym typeface="Montserrat"/>
              </a:rPr>
              <a:t>Skala 3: 120 sampai 149 GB (Keterangan: Cukup).</a:t>
            </a:r>
          </a:p>
          <a:p>
            <a:pPr algn="l">
              <a:lnSpc>
                <a:spcPts val="2000"/>
              </a:lnSpc>
            </a:pPr>
            <a:r>
              <a:rPr lang="en-US" sz="2000">
                <a:solidFill>
                  <a:srgbClr val="FFFFFF"/>
                </a:solidFill>
                <a:latin typeface="Montserrat"/>
                <a:ea typeface="Montserrat"/>
                <a:cs typeface="Montserrat"/>
                <a:sym typeface="Montserrat"/>
              </a:rPr>
              <a:t>Skala 2: 100 sampai 119 GB (Keterangan: Standar).</a:t>
            </a:r>
          </a:p>
          <a:p>
            <a:pPr algn="l">
              <a:lnSpc>
                <a:spcPts val="2000"/>
              </a:lnSpc>
            </a:pPr>
            <a:r>
              <a:rPr lang="en-US" sz="2000">
                <a:solidFill>
                  <a:srgbClr val="FFFFFF"/>
                </a:solidFill>
                <a:latin typeface="Montserrat"/>
                <a:ea typeface="Montserrat"/>
                <a:cs typeface="Montserrat"/>
                <a:sym typeface="Montserrat"/>
              </a:rPr>
              <a:t>Skala 1: Kurang dari 100 GB (Keterangan: Kecil).</a:t>
            </a:r>
          </a:p>
          <a:p>
            <a:pPr algn="l">
              <a:lnSpc>
                <a:spcPts val="2000"/>
              </a:lnSpc>
              <a:spcBef>
                <a:spcPct val="0"/>
              </a:spcBef>
            </a:pPr>
          </a:p>
        </p:txBody>
      </p:sp>
      <p:grpSp>
        <p:nvGrpSpPr>
          <p:cNvPr name="Group 19" id="19"/>
          <p:cNvGrpSpPr/>
          <p:nvPr/>
        </p:nvGrpSpPr>
        <p:grpSpPr>
          <a:xfrm rot="0">
            <a:off x="9344932" y="6077134"/>
            <a:ext cx="8358467" cy="2450149"/>
            <a:chOff x="0" y="0"/>
            <a:chExt cx="2201407" cy="645307"/>
          </a:xfrm>
        </p:grpSpPr>
        <p:sp>
          <p:nvSpPr>
            <p:cNvPr name="Freeform 20" id="20"/>
            <p:cNvSpPr/>
            <p:nvPr/>
          </p:nvSpPr>
          <p:spPr>
            <a:xfrm flipH="false" flipV="false" rot="0">
              <a:off x="0" y="0"/>
              <a:ext cx="2201407" cy="645307"/>
            </a:xfrm>
            <a:custGeom>
              <a:avLst/>
              <a:gdLst/>
              <a:ahLst/>
              <a:cxnLst/>
              <a:rect r="r" b="b" t="t" l="l"/>
              <a:pathLst>
                <a:path h="645307" w="2201407">
                  <a:moveTo>
                    <a:pt x="18525" y="0"/>
                  </a:moveTo>
                  <a:lnTo>
                    <a:pt x="2182882" y="0"/>
                  </a:lnTo>
                  <a:cubicBezTo>
                    <a:pt x="2187795" y="0"/>
                    <a:pt x="2192507" y="1952"/>
                    <a:pt x="2195981" y="5426"/>
                  </a:cubicBezTo>
                  <a:cubicBezTo>
                    <a:pt x="2199455" y="8900"/>
                    <a:pt x="2201407" y="13612"/>
                    <a:pt x="2201407" y="18525"/>
                  </a:cubicBezTo>
                  <a:lnTo>
                    <a:pt x="2201407" y="626782"/>
                  </a:lnTo>
                  <a:cubicBezTo>
                    <a:pt x="2201407" y="631695"/>
                    <a:pt x="2199455" y="636407"/>
                    <a:pt x="2195981" y="639881"/>
                  </a:cubicBezTo>
                  <a:cubicBezTo>
                    <a:pt x="2192507" y="643355"/>
                    <a:pt x="2187795" y="645307"/>
                    <a:pt x="2182882" y="645307"/>
                  </a:cubicBezTo>
                  <a:lnTo>
                    <a:pt x="18525" y="645307"/>
                  </a:lnTo>
                  <a:cubicBezTo>
                    <a:pt x="13612" y="645307"/>
                    <a:pt x="8900" y="643355"/>
                    <a:pt x="5426" y="639881"/>
                  </a:cubicBezTo>
                  <a:cubicBezTo>
                    <a:pt x="1952" y="636407"/>
                    <a:pt x="0" y="631695"/>
                    <a:pt x="0" y="626782"/>
                  </a:cubicBezTo>
                  <a:lnTo>
                    <a:pt x="0" y="18525"/>
                  </a:lnTo>
                  <a:cubicBezTo>
                    <a:pt x="0" y="13612"/>
                    <a:pt x="1952" y="8900"/>
                    <a:pt x="5426" y="5426"/>
                  </a:cubicBezTo>
                  <a:cubicBezTo>
                    <a:pt x="8900" y="1952"/>
                    <a:pt x="13612" y="0"/>
                    <a:pt x="18525" y="0"/>
                  </a:cubicBezTo>
                  <a:close/>
                </a:path>
              </a:pathLst>
            </a:custGeom>
            <a:gradFill rotWithShape="true">
              <a:gsLst>
                <a:gs pos="0">
                  <a:srgbClr val="153969">
                    <a:alpha val="100000"/>
                  </a:srgbClr>
                </a:gs>
                <a:gs pos="100000">
                  <a:srgbClr val="718BAB">
                    <a:alpha val="100000"/>
                  </a:srgbClr>
                </a:gs>
              </a:gsLst>
              <a:lin ang="0"/>
            </a:gradFill>
            <a:ln cap="sq">
              <a:noFill/>
              <a:prstDash val="solid"/>
              <a:miter/>
            </a:ln>
          </p:spPr>
        </p:sp>
        <p:sp>
          <p:nvSpPr>
            <p:cNvPr name="TextBox 21" id="21"/>
            <p:cNvSpPr txBox="true"/>
            <p:nvPr/>
          </p:nvSpPr>
          <p:spPr>
            <a:xfrm>
              <a:off x="0" y="-47625"/>
              <a:ext cx="2201407" cy="692932"/>
            </a:xfrm>
            <a:prstGeom prst="rect">
              <a:avLst/>
            </a:prstGeom>
          </p:spPr>
          <p:txBody>
            <a:bodyPr anchor="ctr" rtlCol="false" tIns="50800" lIns="50800" bIns="50800" rIns="50800"/>
            <a:lstStyle/>
            <a:p>
              <a:pPr algn="just" marL="0" indent="0" lvl="0">
                <a:lnSpc>
                  <a:spcPts val="2800"/>
                </a:lnSpc>
                <a:spcBef>
                  <a:spcPct val="0"/>
                </a:spcBef>
              </a:pPr>
            </a:p>
          </p:txBody>
        </p:sp>
      </p:grpSp>
      <p:sp>
        <p:nvSpPr>
          <p:cNvPr name="TextBox 22" id="22"/>
          <p:cNvSpPr txBox="true"/>
          <p:nvPr/>
        </p:nvSpPr>
        <p:spPr>
          <a:xfrm rot="0">
            <a:off x="9466515" y="6267634"/>
            <a:ext cx="8115300" cy="1993900"/>
          </a:xfrm>
          <a:prstGeom prst="rect">
            <a:avLst/>
          </a:prstGeom>
        </p:spPr>
        <p:txBody>
          <a:bodyPr anchor="t" rtlCol="false" tIns="0" lIns="0" bIns="0" rIns="0">
            <a:spAutoFit/>
          </a:bodyPr>
          <a:lstStyle/>
          <a:p>
            <a:pPr algn="l">
              <a:lnSpc>
                <a:spcPts val="2000"/>
              </a:lnSpc>
              <a:spcBef>
                <a:spcPct val="0"/>
              </a:spcBef>
            </a:pPr>
            <a:r>
              <a:rPr lang="en-US" sz="2000">
                <a:solidFill>
                  <a:srgbClr val="FFFFFF"/>
                </a:solidFill>
                <a:latin typeface="Montserrat"/>
                <a:ea typeface="Montserrat"/>
                <a:cs typeface="Montserrat"/>
                <a:sym typeface="Montserrat"/>
              </a:rPr>
              <a:t>C4, C5, C6: Kondisi Jaringan &amp; Layanan (Benefit)</a:t>
            </a:r>
          </a:p>
          <a:p>
            <a:pPr algn="l">
              <a:lnSpc>
                <a:spcPts val="2000"/>
              </a:lnSpc>
              <a:spcBef>
                <a:spcPct val="0"/>
              </a:spcBef>
            </a:pPr>
          </a:p>
          <a:p>
            <a:pPr algn="l">
              <a:lnSpc>
                <a:spcPts val="2000"/>
              </a:lnSpc>
            </a:pPr>
            <a:r>
              <a:rPr lang="en-US" sz="2000">
                <a:solidFill>
                  <a:srgbClr val="FFFFFF"/>
                </a:solidFill>
                <a:latin typeface="Montserrat"/>
                <a:ea typeface="Montserrat"/>
                <a:cs typeface="Montserrat"/>
                <a:sym typeface="Montserrat"/>
              </a:rPr>
              <a:t>Skala 5: Sangat (Stabil/Luas/Responsif).</a:t>
            </a:r>
          </a:p>
          <a:p>
            <a:pPr algn="l">
              <a:lnSpc>
                <a:spcPts val="2000"/>
              </a:lnSpc>
            </a:pPr>
            <a:r>
              <a:rPr lang="en-US" sz="2000">
                <a:solidFill>
                  <a:srgbClr val="FFFFFF"/>
                </a:solidFill>
                <a:latin typeface="Montserrat"/>
                <a:ea typeface="Montserrat"/>
                <a:cs typeface="Montserrat"/>
                <a:sym typeface="Montserrat"/>
              </a:rPr>
              <a:t>Skala 4: Bagus (Stabil/Luas/Responsif).</a:t>
            </a:r>
          </a:p>
          <a:p>
            <a:pPr algn="l">
              <a:lnSpc>
                <a:spcPts val="2000"/>
              </a:lnSpc>
            </a:pPr>
            <a:r>
              <a:rPr lang="en-US" sz="2000">
                <a:solidFill>
                  <a:srgbClr val="FFFFFF"/>
                </a:solidFill>
                <a:latin typeface="Montserrat"/>
                <a:ea typeface="Montserrat"/>
                <a:cs typeface="Montserrat"/>
                <a:sym typeface="Montserrat"/>
              </a:rPr>
              <a:t>Skala 3: Cukup atau Standar.</a:t>
            </a:r>
          </a:p>
          <a:p>
            <a:pPr algn="l">
              <a:lnSpc>
                <a:spcPts val="2000"/>
              </a:lnSpc>
            </a:pPr>
            <a:r>
              <a:rPr lang="en-US" sz="2000">
                <a:solidFill>
                  <a:srgbClr val="FFFFFF"/>
                </a:solidFill>
                <a:latin typeface="Montserrat"/>
                <a:ea typeface="Montserrat"/>
                <a:cs typeface="Montserrat"/>
                <a:sym typeface="Montserrat"/>
              </a:rPr>
              <a:t>Skala 2: Terbatas atau Kurang.</a:t>
            </a:r>
          </a:p>
          <a:p>
            <a:pPr algn="l">
              <a:lnSpc>
                <a:spcPts val="2000"/>
              </a:lnSpc>
            </a:pPr>
            <a:r>
              <a:rPr lang="en-US" sz="2000">
                <a:solidFill>
                  <a:srgbClr val="FFFFFF"/>
                </a:solidFill>
                <a:latin typeface="Montserrat"/>
                <a:ea typeface="Montserrat"/>
                <a:cs typeface="Montserrat"/>
                <a:sym typeface="Montserrat"/>
              </a:rPr>
              <a:t>Skala 1: Sangat Kurang.</a:t>
            </a:r>
          </a:p>
          <a:p>
            <a:pPr algn="l">
              <a:lnSpc>
                <a:spcPts val="2000"/>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575284" y="7427457"/>
            <a:ext cx="5719087" cy="5719087"/>
          </a:xfrm>
          <a:custGeom>
            <a:avLst/>
            <a:gdLst/>
            <a:ahLst/>
            <a:cxnLst/>
            <a:rect r="r" b="b" t="t" l="l"/>
            <a:pathLst>
              <a:path h="5719087" w="5719087">
                <a:moveTo>
                  <a:pt x="0" y="0"/>
                </a:moveTo>
                <a:lnTo>
                  <a:pt x="5719087" y="0"/>
                </a:lnTo>
                <a:lnTo>
                  <a:pt x="5719087" y="5719086"/>
                </a:lnTo>
                <a:lnTo>
                  <a:pt x="0" y="5719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6544702" y="-543865"/>
            <a:ext cx="6776643" cy="6776643"/>
          </a:xfrm>
          <a:custGeom>
            <a:avLst/>
            <a:gdLst/>
            <a:ahLst/>
            <a:cxnLst/>
            <a:rect r="r" b="b" t="t" l="l"/>
            <a:pathLst>
              <a:path h="6776643" w="6776643">
                <a:moveTo>
                  <a:pt x="0" y="0"/>
                </a:moveTo>
                <a:lnTo>
                  <a:pt x="6776643" y="0"/>
                </a:lnTo>
                <a:lnTo>
                  <a:pt x="6776643" y="6776643"/>
                </a:lnTo>
                <a:lnTo>
                  <a:pt x="0" y="6776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1028700" y="3774043"/>
            <a:ext cx="16230600" cy="2738914"/>
          </a:xfrm>
          <a:custGeom>
            <a:avLst/>
            <a:gdLst/>
            <a:ahLst/>
            <a:cxnLst/>
            <a:rect r="r" b="b" t="t" l="l"/>
            <a:pathLst>
              <a:path h="2738914" w="16230600">
                <a:moveTo>
                  <a:pt x="0" y="0"/>
                </a:moveTo>
                <a:lnTo>
                  <a:pt x="16230600" y="0"/>
                </a:lnTo>
                <a:lnTo>
                  <a:pt x="16230600" y="2738914"/>
                </a:lnTo>
                <a:lnTo>
                  <a:pt x="0" y="2738914"/>
                </a:lnTo>
                <a:lnTo>
                  <a:pt x="0" y="0"/>
                </a:lnTo>
                <a:close/>
              </a:path>
            </a:pathLst>
          </a:custGeom>
          <a:blipFill>
            <a:blip r:embed="rId6"/>
            <a:stretch>
              <a:fillRect l="0" t="0" r="0" b="0"/>
            </a:stretch>
          </a:blipFill>
        </p:spPr>
      </p:sp>
      <p:sp>
        <p:nvSpPr>
          <p:cNvPr name="TextBox 8" id="8"/>
          <p:cNvSpPr txBox="true"/>
          <p:nvPr/>
        </p:nvSpPr>
        <p:spPr>
          <a:xfrm rot="0">
            <a:off x="4319316" y="1910598"/>
            <a:ext cx="9649369" cy="934417"/>
          </a:xfrm>
          <a:prstGeom prst="rect">
            <a:avLst/>
          </a:prstGeom>
        </p:spPr>
        <p:txBody>
          <a:bodyPr anchor="t" rtlCol="false" tIns="0" lIns="0" bIns="0" rIns="0">
            <a:spAutoFit/>
          </a:bodyPr>
          <a:lstStyle/>
          <a:p>
            <a:pPr algn="ctr">
              <a:lnSpc>
                <a:spcPts val="6788"/>
              </a:lnSpc>
            </a:pPr>
            <a:r>
              <a:rPr lang="en-US" b="true" sz="6788">
                <a:solidFill>
                  <a:srgbClr val="153969"/>
                </a:solidFill>
                <a:latin typeface="Times New Roman Bold"/>
                <a:ea typeface="Times New Roman Bold"/>
                <a:cs typeface="Times New Roman Bold"/>
                <a:sym typeface="Times New Roman Bold"/>
              </a:rPr>
              <a:t>Sampel Data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150660">
            <a:off x="9705437" y="3779610"/>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3929471" y="-1631942"/>
            <a:ext cx="4072079" cy="4072079"/>
          </a:xfrm>
          <a:custGeom>
            <a:avLst/>
            <a:gdLst/>
            <a:ahLst/>
            <a:cxnLst/>
            <a:rect r="r" b="b" t="t" l="l"/>
            <a:pathLst>
              <a:path h="4072079" w="4072079">
                <a:moveTo>
                  <a:pt x="0" y="0"/>
                </a:moveTo>
                <a:lnTo>
                  <a:pt x="4072079" y="0"/>
                </a:lnTo>
                <a:lnTo>
                  <a:pt x="4072079" y="4072079"/>
                </a:lnTo>
                <a:lnTo>
                  <a:pt x="0" y="4072079"/>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0729465">
            <a:off x="-2173412" y="-1978988"/>
            <a:ext cx="4766171" cy="4766171"/>
          </a:xfrm>
          <a:custGeom>
            <a:avLst/>
            <a:gdLst/>
            <a:ahLst/>
            <a:cxnLst/>
            <a:rect r="r" b="b" t="t" l="l"/>
            <a:pathLst>
              <a:path h="4766171" w="4766171">
                <a:moveTo>
                  <a:pt x="4766171" y="0"/>
                </a:moveTo>
                <a:lnTo>
                  <a:pt x="0" y="0"/>
                </a:lnTo>
                <a:lnTo>
                  <a:pt x="0" y="4766171"/>
                </a:lnTo>
                <a:lnTo>
                  <a:pt x="4766171" y="4766171"/>
                </a:lnTo>
                <a:lnTo>
                  <a:pt x="4766171"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0729465">
            <a:off x="641369" y="9456688"/>
            <a:ext cx="2035595" cy="2035595"/>
          </a:xfrm>
          <a:custGeom>
            <a:avLst/>
            <a:gdLst/>
            <a:ahLst/>
            <a:cxnLst/>
            <a:rect r="r" b="b" t="t" l="l"/>
            <a:pathLst>
              <a:path h="2035595" w="2035595">
                <a:moveTo>
                  <a:pt x="2035595" y="0"/>
                </a:moveTo>
                <a:lnTo>
                  <a:pt x="0" y="0"/>
                </a:lnTo>
                <a:lnTo>
                  <a:pt x="0" y="2035595"/>
                </a:lnTo>
                <a:lnTo>
                  <a:pt x="2035595" y="2035595"/>
                </a:lnTo>
                <a:lnTo>
                  <a:pt x="2035595"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3493371" y="3603500"/>
            <a:ext cx="11301259" cy="4732402"/>
          </a:xfrm>
          <a:custGeom>
            <a:avLst/>
            <a:gdLst/>
            <a:ahLst/>
            <a:cxnLst/>
            <a:rect r="r" b="b" t="t" l="l"/>
            <a:pathLst>
              <a:path h="4732402" w="11301259">
                <a:moveTo>
                  <a:pt x="0" y="0"/>
                </a:moveTo>
                <a:lnTo>
                  <a:pt x="11301258" y="0"/>
                </a:lnTo>
                <a:lnTo>
                  <a:pt x="11301258" y="4732402"/>
                </a:lnTo>
                <a:lnTo>
                  <a:pt x="0" y="4732402"/>
                </a:lnTo>
                <a:lnTo>
                  <a:pt x="0" y="0"/>
                </a:lnTo>
                <a:close/>
              </a:path>
            </a:pathLst>
          </a:custGeom>
          <a:blipFill>
            <a:blip r:embed="rId6"/>
            <a:stretch>
              <a:fillRect l="0" t="0" r="0" b="0"/>
            </a:stretch>
          </a:blipFill>
        </p:spPr>
      </p:sp>
      <p:sp>
        <p:nvSpPr>
          <p:cNvPr name="TextBox 7" id="7"/>
          <p:cNvSpPr txBox="true"/>
          <p:nvPr/>
        </p:nvSpPr>
        <p:spPr>
          <a:xfrm rot="0">
            <a:off x="2443406" y="1284505"/>
            <a:ext cx="13401189" cy="1733550"/>
          </a:xfrm>
          <a:prstGeom prst="rect">
            <a:avLst/>
          </a:prstGeom>
        </p:spPr>
        <p:txBody>
          <a:bodyPr anchor="t" rtlCol="false" tIns="0" lIns="0" bIns="0" rIns="0">
            <a:spAutoFit/>
          </a:bodyPr>
          <a:lstStyle/>
          <a:p>
            <a:pPr algn="ctr">
              <a:lnSpc>
                <a:spcPts val="6600"/>
              </a:lnSpc>
            </a:pPr>
            <a:r>
              <a:rPr lang="en-US" b="true" sz="6000">
                <a:solidFill>
                  <a:srgbClr val="153969"/>
                </a:solidFill>
                <a:latin typeface="Times New Roman Bold"/>
                <a:ea typeface="Times New Roman Bold"/>
                <a:cs typeface="Times New Roman Bold"/>
                <a:sym typeface="Times New Roman Bold"/>
              </a:rPr>
              <a:t>Konversi Label Kualitatif ke Nilai Numerik</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150660">
            <a:off x="9705437" y="3779610"/>
            <a:ext cx="10812392" cy="10812392"/>
          </a:xfrm>
          <a:custGeom>
            <a:avLst/>
            <a:gdLst/>
            <a:ahLst/>
            <a:cxnLst/>
            <a:rect r="r" b="b" t="t" l="l"/>
            <a:pathLst>
              <a:path h="10812392" w="10812392">
                <a:moveTo>
                  <a:pt x="0" y="0"/>
                </a:moveTo>
                <a:lnTo>
                  <a:pt x="10812392" y="0"/>
                </a:lnTo>
                <a:lnTo>
                  <a:pt x="10812392" y="10812392"/>
                </a:lnTo>
                <a:lnTo>
                  <a:pt x="0" y="1081239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3929471" y="-1631942"/>
            <a:ext cx="4072079" cy="4072079"/>
          </a:xfrm>
          <a:custGeom>
            <a:avLst/>
            <a:gdLst/>
            <a:ahLst/>
            <a:cxnLst/>
            <a:rect r="r" b="b" t="t" l="l"/>
            <a:pathLst>
              <a:path h="4072079" w="4072079">
                <a:moveTo>
                  <a:pt x="0" y="0"/>
                </a:moveTo>
                <a:lnTo>
                  <a:pt x="4072079" y="0"/>
                </a:lnTo>
                <a:lnTo>
                  <a:pt x="4072079" y="4072079"/>
                </a:lnTo>
                <a:lnTo>
                  <a:pt x="0" y="4072079"/>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0729465">
            <a:off x="-2173412" y="-1978988"/>
            <a:ext cx="4766171" cy="4766171"/>
          </a:xfrm>
          <a:custGeom>
            <a:avLst/>
            <a:gdLst/>
            <a:ahLst/>
            <a:cxnLst/>
            <a:rect r="r" b="b" t="t" l="l"/>
            <a:pathLst>
              <a:path h="4766171" w="4766171">
                <a:moveTo>
                  <a:pt x="4766171" y="0"/>
                </a:moveTo>
                <a:lnTo>
                  <a:pt x="0" y="0"/>
                </a:lnTo>
                <a:lnTo>
                  <a:pt x="0" y="4766171"/>
                </a:lnTo>
                <a:lnTo>
                  <a:pt x="4766171" y="4766171"/>
                </a:lnTo>
                <a:lnTo>
                  <a:pt x="4766171"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0729465">
            <a:off x="641369" y="9456688"/>
            <a:ext cx="2035595" cy="2035595"/>
          </a:xfrm>
          <a:custGeom>
            <a:avLst/>
            <a:gdLst/>
            <a:ahLst/>
            <a:cxnLst/>
            <a:rect r="r" b="b" t="t" l="l"/>
            <a:pathLst>
              <a:path h="2035595" w="2035595">
                <a:moveTo>
                  <a:pt x="2035595" y="0"/>
                </a:moveTo>
                <a:lnTo>
                  <a:pt x="0" y="0"/>
                </a:lnTo>
                <a:lnTo>
                  <a:pt x="0" y="2035595"/>
                </a:lnTo>
                <a:lnTo>
                  <a:pt x="2035595" y="2035595"/>
                </a:lnTo>
                <a:lnTo>
                  <a:pt x="2035595"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057036" y="3101974"/>
            <a:ext cx="14173927" cy="5049462"/>
          </a:xfrm>
          <a:custGeom>
            <a:avLst/>
            <a:gdLst/>
            <a:ahLst/>
            <a:cxnLst/>
            <a:rect r="r" b="b" t="t" l="l"/>
            <a:pathLst>
              <a:path h="5049462" w="14173927">
                <a:moveTo>
                  <a:pt x="0" y="0"/>
                </a:moveTo>
                <a:lnTo>
                  <a:pt x="14173928" y="0"/>
                </a:lnTo>
                <a:lnTo>
                  <a:pt x="14173928" y="5049461"/>
                </a:lnTo>
                <a:lnTo>
                  <a:pt x="0" y="5049461"/>
                </a:lnTo>
                <a:lnTo>
                  <a:pt x="0" y="0"/>
                </a:lnTo>
                <a:close/>
              </a:path>
            </a:pathLst>
          </a:custGeom>
          <a:blipFill>
            <a:blip r:embed="rId6"/>
            <a:stretch>
              <a:fillRect l="0" t="0" r="0" b="0"/>
            </a:stretch>
          </a:blipFill>
        </p:spPr>
      </p:sp>
      <p:sp>
        <p:nvSpPr>
          <p:cNvPr name="TextBox 7" id="7"/>
          <p:cNvSpPr txBox="true"/>
          <p:nvPr/>
        </p:nvSpPr>
        <p:spPr>
          <a:xfrm rot="0">
            <a:off x="2443406" y="1303555"/>
            <a:ext cx="13401189" cy="1177925"/>
          </a:xfrm>
          <a:prstGeom prst="rect">
            <a:avLst/>
          </a:prstGeom>
        </p:spPr>
        <p:txBody>
          <a:bodyPr anchor="t" rtlCol="false" tIns="0" lIns="0" bIns="0" rIns="0">
            <a:spAutoFit/>
          </a:bodyPr>
          <a:lstStyle/>
          <a:p>
            <a:pPr algn="l">
              <a:lnSpc>
                <a:spcPts val="8800"/>
              </a:lnSpc>
            </a:pPr>
            <a:r>
              <a:rPr lang="en-US" sz="8000" b="true">
                <a:solidFill>
                  <a:srgbClr val="153969"/>
                </a:solidFill>
                <a:latin typeface="Times New Roman Bold"/>
                <a:ea typeface="Times New Roman Bold"/>
                <a:cs typeface="Times New Roman Bold"/>
                <a:sym typeface="Times New Roman Bold"/>
              </a:rPr>
              <a:t>Kriteria yang Digunakan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575284" y="7427457"/>
            <a:ext cx="5719087" cy="5719087"/>
          </a:xfrm>
          <a:custGeom>
            <a:avLst/>
            <a:gdLst/>
            <a:ahLst/>
            <a:cxnLst/>
            <a:rect r="r" b="b" t="t" l="l"/>
            <a:pathLst>
              <a:path h="5719087" w="5719087">
                <a:moveTo>
                  <a:pt x="0" y="0"/>
                </a:moveTo>
                <a:lnTo>
                  <a:pt x="5719087" y="0"/>
                </a:lnTo>
                <a:lnTo>
                  <a:pt x="5719087" y="5719086"/>
                </a:lnTo>
                <a:lnTo>
                  <a:pt x="0" y="5719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6544702" y="-543865"/>
            <a:ext cx="6776643" cy="6776643"/>
          </a:xfrm>
          <a:custGeom>
            <a:avLst/>
            <a:gdLst/>
            <a:ahLst/>
            <a:cxnLst/>
            <a:rect r="r" b="b" t="t" l="l"/>
            <a:pathLst>
              <a:path h="6776643" w="6776643">
                <a:moveTo>
                  <a:pt x="0" y="0"/>
                </a:moveTo>
                <a:lnTo>
                  <a:pt x="6776643" y="0"/>
                </a:lnTo>
                <a:lnTo>
                  <a:pt x="6776643" y="6776643"/>
                </a:lnTo>
                <a:lnTo>
                  <a:pt x="0" y="6776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702008" y="2210180"/>
            <a:ext cx="12883984" cy="6860722"/>
          </a:xfrm>
          <a:custGeom>
            <a:avLst/>
            <a:gdLst/>
            <a:ahLst/>
            <a:cxnLst/>
            <a:rect r="r" b="b" t="t" l="l"/>
            <a:pathLst>
              <a:path h="6860722" w="12883984">
                <a:moveTo>
                  <a:pt x="0" y="0"/>
                </a:moveTo>
                <a:lnTo>
                  <a:pt x="12883984" y="0"/>
                </a:lnTo>
                <a:lnTo>
                  <a:pt x="12883984" y="6860722"/>
                </a:lnTo>
                <a:lnTo>
                  <a:pt x="0" y="6860722"/>
                </a:lnTo>
                <a:lnTo>
                  <a:pt x="0" y="0"/>
                </a:lnTo>
                <a:close/>
              </a:path>
            </a:pathLst>
          </a:custGeom>
          <a:blipFill>
            <a:blip r:embed="rId6"/>
            <a:stretch>
              <a:fillRect l="0" t="0" r="0" b="0"/>
            </a:stretch>
          </a:blipFill>
        </p:spPr>
      </p:sp>
      <p:sp>
        <p:nvSpPr>
          <p:cNvPr name="TextBox 8" id="8"/>
          <p:cNvSpPr txBox="true"/>
          <p:nvPr/>
        </p:nvSpPr>
        <p:spPr>
          <a:xfrm rot="0">
            <a:off x="4705083" y="1043311"/>
            <a:ext cx="8877835" cy="934417"/>
          </a:xfrm>
          <a:prstGeom prst="rect">
            <a:avLst/>
          </a:prstGeom>
        </p:spPr>
        <p:txBody>
          <a:bodyPr anchor="t" rtlCol="false" tIns="0" lIns="0" bIns="0" rIns="0">
            <a:spAutoFit/>
          </a:bodyPr>
          <a:lstStyle/>
          <a:p>
            <a:pPr algn="ctr">
              <a:lnSpc>
                <a:spcPts val="6788"/>
              </a:lnSpc>
            </a:pPr>
            <a:r>
              <a:rPr lang="en-US" b="true" sz="6788">
                <a:solidFill>
                  <a:srgbClr val="153969"/>
                </a:solidFill>
                <a:latin typeface="Times New Roman Bold"/>
                <a:ea typeface="Times New Roman Bold"/>
                <a:cs typeface="Times New Roman Bold"/>
                <a:sym typeface="Times New Roman Bold"/>
              </a:rPr>
              <a:t>Sampel Data Skala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729465">
            <a:off x="13929471" y="-1631942"/>
            <a:ext cx="4072079" cy="4072079"/>
          </a:xfrm>
          <a:custGeom>
            <a:avLst/>
            <a:gdLst/>
            <a:ahLst/>
            <a:cxnLst/>
            <a:rect r="r" b="b" t="t" l="l"/>
            <a:pathLst>
              <a:path h="4072079" w="4072079">
                <a:moveTo>
                  <a:pt x="0" y="0"/>
                </a:moveTo>
                <a:lnTo>
                  <a:pt x="4072079" y="0"/>
                </a:lnTo>
                <a:lnTo>
                  <a:pt x="4072079" y="4072079"/>
                </a:lnTo>
                <a:lnTo>
                  <a:pt x="0" y="4072079"/>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729465">
            <a:off x="-2173412" y="-1978988"/>
            <a:ext cx="4766171" cy="4766171"/>
          </a:xfrm>
          <a:custGeom>
            <a:avLst/>
            <a:gdLst/>
            <a:ahLst/>
            <a:cxnLst/>
            <a:rect r="r" b="b" t="t" l="l"/>
            <a:pathLst>
              <a:path h="4766171" w="4766171">
                <a:moveTo>
                  <a:pt x="4766171" y="0"/>
                </a:moveTo>
                <a:lnTo>
                  <a:pt x="0" y="0"/>
                </a:lnTo>
                <a:lnTo>
                  <a:pt x="0" y="4766171"/>
                </a:lnTo>
                <a:lnTo>
                  <a:pt x="4766171" y="4766171"/>
                </a:lnTo>
                <a:lnTo>
                  <a:pt x="4766171"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10729465">
            <a:off x="641369" y="9456688"/>
            <a:ext cx="2035595" cy="2035595"/>
          </a:xfrm>
          <a:custGeom>
            <a:avLst/>
            <a:gdLst/>
            <a:ahLst/>
            <a:cxnLst/>
            <a:rect r="r" b="b" t="t" l="l"/>
            <a:pathLst>
              <a:path h="2035595" w="2035595">
                <a:moveTo>
                  <a:pt x="2035595" y="0"/>
                </a:moveTo>
                <a:lnTo>
                  <a:pt x="0" y="0"/>
                </a:lnTo>
                <a:lnTo>
                  <a:pt x="0" y="2035595"/>
                </a:lnTo>
                <a:lnTo>
                  <a:pt x="2035595" y="2035595"/>
                </a:lnTo>
                <a:lnTo>
                  <a:pt x="2035595"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2443406" y="1284505"/>
            <a:ext cx="13401189" cy="895350"/>
          </a:xfrm>
          <a:prstGeom prst="rect">
            <a:avLst/>
          </a:prstGeom>
        </p:spPr>
        <p:txBody>
          <a:bodyPr anchor="t" rtlCol="false" tIns="0" lIns="0" bIns="0" rIns="0">
            <a:spAutoFit/>
          </a:bodyPr>
          <a:lstStyle/>
          <a:p>
            <a:pPr algn="ctr">
              <a:lnSpc>
                <a:spcPts val="6600"/>
              </a:lnSpc>
            </a:pPr>
            <a:r>
              <a:rPr lang="en-US" b="true" sz="6000">
                <a:solidFill>
                  <a:srgbClr val="153969"/>
                </a:solidFill>
                <a:latin typeface="Times New Roman Bold"/>
                <a:ea typeface="Times New Roman Bold"/>
                <a:cs typeface="Times New Roman Bold"/>
                <a:sym typeface="Times New Roman Bold"/>
              </a:rPr>
              <a:t>Rumus Normalisasi U(x)</a:t>
            </a:r>
          </a:p>
        </p:txBody>
      </p:sp>
      <p:sp>
        <p:nvSpPr>
          <p:cNvPr name="TextBox 6" id="6"/>
          <p:cNvSpPr txBox="true"/>
          <p:nvPr/>
        </p:nvSpPr>
        <p:spPr>
          <a:xfrm rot="0">
            <a:off x="3784029" y="2879725"/>
            <a:ext cx="10719941" cy="1136650"/>
          </a:xfrm>
          <a:prstGeom prst="rect">
            <a:avLst/>
          </a:prstGeom>
        </p:spPr>
        <p:txBody>
          <a:bodyPr anchor="t" rtlCol="false" tIns="0" lIns="0" bIns="0" rIns="0">
            <a:spAutoFit/>
          </a:bodyPr>
          <a:lstStyle/>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Kriteria BENEFIT (semakin besar semakin baik)</a:t>
            </a:r>
          </a:p>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U(x) = (x - x_min) / (x_max - x_min) x 100</a:t>
            </a:r>
          </a:p>
        </p:txBody>
      </p:sp>
      <p:sp>
        <p:nvSpPr>
          <p:cNvPr name="TextBox 7" id="7"/>
          <p:cNvSpPr txBox="true"/>
          <p:nvPr/>
        </p:nvSpPr>
        <p:spPr>
          <a:xfrm rot="0">
            <a:off x="4287515" y="4584700"/>
            <a:ext cx="9712970" cy="1136650"/>
          </a:xfrm>
          <a:prstGeom prst="rect">
            <a:avLst/>
          </a:prstGeom>
        </p:spPr>
        <p:txBody>
          <a:bodyPr anchor="t" rtlCol="false" tIns="0" lIns="0" bIns="0" rIns="0">
            <a:spAutoFit/>
          </a:bodyPr>
          <a:lstStyle/>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Kriteria COST (semakin kecil semakin baik)</a:t>
            </a:r>
          </a:p>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U(x) = (x_max - x) / (x_max - x_min) x 100</a:t>
            </a:r>
          </a:p>
        </p:txBody>
      </p:sp>
      <p:sp>
        <p:nvSpPr>
          <p:cNvPr name="TextBox 8" id="8"/>
          <p:cNvSpPr txBox="true"/>
          <p:nvPr/>
        </p:nvSpPr>
        <p:spPr>
          <a:xfrm rot="0">
            <a:off x="1992377" y="6121400"/>
            <a:ext cx="14689485" cy="1689100"/>
          </a:xfrm>
          <a:prstGeom prst="rect">
            <a:avLst/>
          </a:prstGeom>
        </p:spPr>
        <p:txBody>
          <a:bodyPr anchor="t" rtlCol="false" tIns="0" lIns="0" bIns="0" rIns="0">
            <a:spAutoFit/>
          </a:bodyPr>
          <a:lstStyle/>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Rumus Nilai Akhir V(i)</a:t>
            </a:r>
          </a:p>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V(i) = SUM [ w_j x U(x_ij) ]</a:t>
            </a:r>
          </a:p>
          <a:p>
            <a:pPr algn="ctr">
              <a:lnSpc>
                <a:spcPts val="4399"/>
              </a:lnSpc>
              <a:spcBef>
                <a:spcPct val="0"/>
              </a:spcBef>
            </a:pPr>
            <a:r>
              <a:rPr lang="en-US" b="true" sz="3999">
                <a:solidFill>
                  <a:srgbClr val="153969"/>
                </a:solidFill>
                <a:latin typeface="Times New Roman Bold"/>
                <a:ea typeface="Times New Roman Bold"/>
                <a:cs typeface="Times New Roman Bold"/>
                <a:sym typeface="Times New Roman Bold"/>
              </a:rPr>
              <a:t>V(i) = 0.25*C1 + 0.25*C2 + 0.15*C3 + 0.15*C4 + 0.10*C5 + 0.10*C6</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575284" y="7427457"/>
            <a:ext cx="5719087" cy="5719087"/>
          </a:xfrm>
          <a:custGeom>
            <a:avLst/>
            <a:gdLst/>
            <a:ahLst/>
            <a:cxnLst/>
            <a:rect r="r" b="b" t="t" l="l"/>
            <a:pathLst>
              <a:path h="5719087" w="5719087">
                <a:moveTo>
                  <a:pt x="0" y="0"/>
                </a:moveTo>
                <a:lnTo>
                  <a:pt x="5719087" y="0"/>
                </a:lnTo>
                <a:lnTo>
                  <a:pt x="5719087" y="5719086"/>
                </a:lnTo>
                <a:lnTo>
                  <a:pt x="0" y="5719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6544702" y="-543865"/>
            <a:ext cx="6776643" cy="6776643"/>
          </a:xfrm>
          <a:custGeom>
            <a:avLst/>
            <a:gdLst/>
            <a:ahLst/>
            <a:cxnLst/>
            <a:rect r="r" b="b" t="t" l="l"/>
            <a:pathLst>
              <a:path h="6776643" w="6776643">
                <a:moveTo>
                  <a:pt x="0" y="0"/>
                </a:moveTo>
                <a:lnTo>
                  <a:pt x="6776643" y="0"/>
                </a:lnTo>
                <a:lnTo>
                  <a:pt x="6776643" y="6776643"/>
                </a:lnTo>
                <a:lnTo>
                  <a:pt x="0" y="6776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7" id="7"/>
          <p:cNvSpPr txBox="true"/>
          <p:nvPr/>
        </p:nvSpPr>
        <p:spPr>
          <a:xfrm rot="0">
            <a:off x="4705083" y="1043311"/>
            <a:ext cx="8877835" cy="934417"/>
          </a:xfrm>
          <a:prstGeom prst="rect">
            <a:avLst/>
          </a:prstGeom>
        </p:spPr>
        <p:txBody>
          <a:bodyPr anchor="t" rtlCol="false" tIns="0" lIns="0" bIns="0" rIns="0">
            <a:spAutoFit/>
          </a:bodyPr>
          <a:lstStyle/>
          <a:p>
            <a:pPr algn="ctr">
              <a:lnSpc>
                <a:spcPts val="6788"/>
              </a:lnSpc>
            </a:pPr>
            <a:r>
              <a:rPr lang="en-US" b="true" sz="6788">
                <a:solidFill>
                  <a:srgbClr val="153969"/>
                </a:solidFill>
                <a:latin typeface="Times New Roman Bold"/>
                <a:ea typeface="Times New Roman Bold"/>
                <a:cs typeface="Times New Roman Bold"/>
                <a:sym typeface="Times New Roman Bold"/>
              </a:rPr>
              <a:t>Data Nilai Awal</a:t>
            </a:r>
          </a:p>
        </p:txBody>
      </p:sp>
      <p:sp>
        <p:nvSpPr>
          <p:cNvPr name="Freeform 8" id="8"/>
          <p:cNvSpPr/>
          <p:nvPr/>
        </p:nvSpPr>
        <p:spPr>
          <a:xfrm flipH="false" flipV="false" rot="0">
            <a:off x="2490433" y="4155805"/>
            <a:ext cx="13307134" cy="4291551"/>
          </a:xfrm>
          <a:custGeom>
            <a:avLst/>
            <a:gdLst/>
            <a:ahLst/>
            <a:cxnLst/>
            <a:rect r="r" b="b" t="t" l="l"/>
            <a:pathLst>
              <a:path h="4291551" w="13307134">
                <a:moveTo>
                  <a:pt x="0" y="0"/>
                </a:moveTo>
                <a:lnTo>
                  <a:pt x="13307134" y="0"/>
                </a:lnTo>
                <a:lnTo>
                  <a:pt x="13307134" y="4291550"/>
                </a:lnTo>
                <a:lnTo>
                  <a:pt x="0" y="4291550"/>
                </a:lnTo>
                <a:lnTo>
                  <a:pt x="0" y="0"/>
                </a:lnTo>
                <a:close/>
              </a:path>
            </a:pathLst>
          </a:custGeom>
          <a:blipFill>
            <a:blip r:embed="rId6"/>
            <a:stretch>
              <a:fillRect l="0" t="0" r="0" b="0"/>
            </a:stretch>
          </a:blipFill>
        </p:spPr>
      </p:sp>
      <p:sp>
        <p:nvSpPr>
          <p:cNvPr name="TextBox 9" id="9"/>
          <p:cNvSpPr txBox="true"/>
          <p:nvPr/>
        </p:nvSpPr>
        <p:spPr>
          <a:xfrm rot="0">
            <a:off x="454277" y="2901607"/>
            <a:ext cx="8877835" cy="1054100"/>
          </a:xfrm>
          <a:prstGeom prst="rect">
            <a:avLst/>
          </a:prstGeom>
        </p:spPr>
        <p:txBody>
          <a:bodyPr anchor="t" rtlCol="false" tIns="0" lIns="0" bIns="0" rIns="0">
            <a:spAutoFit/>
          </a:bodyPr>
          <a:lstStyle/>
          <a:p>
            <a:pPr algn="ctr">
              <a:lnSpc>
                <a:spcPts val="3999"/>
              </a:lnSpc>
            </a:pPr>
            <a:r>
              <a:rPr lang="en-US" sz="3999" b="true">
                <a:solidFill>
                  <a:srgbClr val="153969"/>
                </a:solidFill>
                <a:latin typeface="Times New Roman Bold"/>
                <a:ea typeface="Times New Roman Bold"/>
                <a:cs typeface="Times New Roman Bold"/>
                <a:sym typeface="Times New Roman Bold"/>
              </a:rPr>
              <a:t>Contoh</a:t>
            </a:r>
          </a:p>
          <a:p>
            <a:pPr algn="ctr">
              <a:lnSpc>
                <a:spcPts val="3999"/>
              </a:lnSpc>
            </a:pPr>
            <a:r>
              <a:rPr lang="en-US" b="true" sz="3999">
                <a:solidFill>
                  <a:srgbClr val="153969"/>
                </a:solidFill>
                <a:latin typeface="Times New Roman Bold"/>
                <a:ea typeface="Times New Roman Bold"/>
                <a:cs typeface="Times New Roman Bold"/>
                <a:sym typeface="Times New Roman Bold"/>
              </a:rPr>
              <a:t>ISP-01 – IndiHome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2">
              <a:alphaModFix amt="30000"/>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0" y="2651125"/>
            <a:ext cx="18288000" cy="6607175"/>
          </a:xfrm>
          <a:prstGeom prst="rect">
            <a:avLst/>
          </a:prstGeom>
        </p:spPr>
        <p:txBody>
          <a:bodyPr anchor="t" rtlCol="false" tIns="0" lIns="0" bIns="0" rIns="0">
            <a:spAutoFit/>
          </a:bodyPr>
          <a:lstStyle/>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C1 – Ha</a:t>
            </a:r>
            <a:r>
              <a:rPr lang="en-US" b="true" sz="3999">
                <a:solidFill>
                  <a:srgbClr val="153969"/>
                </a:solidFill>
                <a:latin typeface="Times New Roman Bold"/>
                <a:ea typeface="Times New Roman Bold"/>
                <a:cs typeface="Times New Roman Bold"/>
                <a:sym typeface="Times New Roman Bold"/>
              </a:rPr>
              <a:t>rga Paket Bulanan: U(x) = (600.000 - 350.000) / (600.000 - 280.000) x 100 = 78.13</a:t>
            </a:r>
          </a:p>
          <a:p>
            <a:pPr algn="ctr">
              <a:lnSpc>
                <a:spcPts val="3999"/>
              </a:lnSpc>
              <a:spcBef>
                <a:spcPct val="0"/>
              </a:spcBef>
            </a:pPr>
          </a:p>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C2 – Kecepatan (Bandwidth): U(x) = (20 - 20) / (50 - 20) x 100 = 0.00</a:t>
            </a:r>
          </a:p>
          <a:p>
            <a:pPr algn="ctr">
              <a:lnSpc>
                <a:spcPts val="3999"/>
              </a:lnSpc>
              <a:spcBef>
                <a:spcPct val="0"/>
              </a:spcBef>
            </a:pPr>
          </a:p>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C3 – Kuota (FUP): U(x) = (100 - 100) / (500 - 100) x 100 = 0.00</a:t>
            </a:r>
          </a:p>
          <a:p>
            <a:pPr algn="ctr">
              <a:lnSpc>
                <a:spcPts val="3999"/>
              </a:lnSpc>
              <a:spcBef>
                <a:spcPct val="0"/>
              </a:spcBef>
            </a:pPr>
          </a:p>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C4 – Tingkat Stabilitas: U(x) = (60 - 60) / (100 - 60) x 100 = 0.00</a:t>
            </a:r>
          </a:p>
          <a:p>
            <a:pPr algn="ctr">
              <a:lnSpc>
                <a:spcPts val="3999"/>
              </a:lnSpc>
              <a:spcBef>
                <a:spcPct val="0"/>
              </a:spcBef>
            </a:pPr>
          </a:p>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C5 – Jangkauan (Coverage): U(x) = (100 - 20) / (100 - 20) x 100 = 100.00</a:t>
            </a:r>
          </a:p>
          <a:p>
            <a:pPr algn="ctr">
              <a:lnSpc>
                <a:spcPts val="3999"/>
              </a:lnSpc>
              <a:spcBef>
                <a:spcPct val="0"/>
              </a:spcBef>
            </a:pPr>
          </a:p>
          <a:p>
            <a:pPr algn="ctr">
              <a:lnSpc>
                <a:spcPts val="3999"/>
              </a:lnSpc>
              <a:spcBef>
                <a:spcPct val="0"/>
              </a:spcBef>
            </a:pPr>
            <a:r>
              <a:rPr lang="en-US" b="true" sz="3999">
                <a:solidFill>
                  <a:srgbClr val="153969"/>
                </a:solidFill>
                <a:latin typeface="Times New Roman Bold"/>
                <a:ea typeface="Times New Roman Bold"/>
                <a:cs typeface="Times New Roman Bold"/>
                <a:sym typeface="Times New Roman Bold"/>
              </a:rPr>
              <a:t>C6 – Layanan Pelanggan: U(x) = (80 - 60) / (100 - 60) x 100 = 50.00</a:t>
            </a:r>
          </a:p>
          <a:p>
            <a:pPr algn="ctr">
              <a:lnSpc>
                <a:spcPts val="3999"/>
              </a:lnSpc>
              <a:spcBef>
                <a:spcPct val="0"/>
              </a:spcBef>
            </a:pPr>
          </a:p>
        </p:txBody>
      </p:sp>
      <p:sp>
        <p:nvSpPr>
          <p:cNvPr name="TextBox 6" id="6"/>
          <p:cNvSpPr txBox="true"/>
          <p:nvPr/>
        </p:nvSpPr>
        <p:spPr>
          <a:xfrm rot="0">
            <a:off x="266165" y="340680"/>
            <a:ext cx="8877835" cy="895759"/>
          </a:xfrm>
          <a:prstGeom prst="rect">
            <a:avLst/>
          </a:prstGeom>
        </p:spPr>
        <p:txBody>
          <a:bodyPr anchor="t" rtlCol="false" tIns="0" lIns="0" bIns="0" rIns="0">
            <a:spAutoFit/>
          </a:bodyPr>
          <a:lstStyle/>
          <a:p>
            <a:pPr algn="ctr">
              <a:lnSpc>
                <a:spcPts val="6788"/>
              </a:lnSpc>
            </a:pPr>
            <a:r>
              <a:rPr lang="en-US" b="true" sz="6788">
                <a:solidFill>
                  <a:srgbClr val="153969"/>
                </a:solidFill>
                <a:latin typeface="Montserrat Bold"/>
                <a:ea typeface="Montserrat Bold"/>
                <a:cs typeface="Montserrat Bold"/>
                <a:sym typeface="Montserrat Bold"/>
              </a:rPr>
              <a:t>Rumus Normalisasi</a:t>
            </a:r>
          </a:p>
        </p:txBody>
      </p:sp>
      <p:sp>
        <p:nvSpPr>
          <p:cNvPr name="TextBox 7" id="7"/>
          <p:cNvSpPr txBox="true"/>
          <p:nvPr/>
        </p:nvSpPr>
        <p:spPr>
          <a:xfrm rot="0">
            <a:off x="9144000" y="807609"/>
            <a:ext cx="8877835" cy="1025525"/>
          </a:xfrm>
          <a:prstGeom prst="rect">
            <a:avLst/>
          </a:prstGeom>
        </p:spPr>
        <p:txBody>
          <a:bodyPr anchor="t" rtlCol="false" tIns="0" lIns="0" bIns="0" rIns="0">
            <a:spAutoFit/>
          </a:bodyPr>
          <a:lstStyle/>
          <a:p>
            <a:pPr algn="ctr">
              <a:lnSpc>
                <a:spcPts val="3999"/>
              </a:lnSpc>
            </a:pPr>
            <a:r>
              <a:rPr lang="en-US" sz="3999" b="true">
                <a:solidFill>
                  <a:srgbClr val="153969"/>
                </a:solidFill>
                <a:latin typeface="Montserrat Bold"/>
                <a:ea typeface="Montserrat Bold"/>
                <a:cs typeface="Montserrat Bold"/>
                <a:sym typeface="Montserrat Bold"/>
              </a:rPr>
              <a:t>Contoh</a:t>
            </a:r>
          </a:p>
          <a:p>
            <a:pPr algn="ctr">
              <a:lnSpc>
                <a:spcPts val="3999"/>
              </a:lnSpc>
            </a:pPr>
            <a:r>
              <a:rPr lang="en-US" b="true" sz="3999">
                <a:solidFill>
                  <a:srgbClr val="153969"/>
                </a:solidFill>
                <a:latin typeface="Montserrat Bold"/>
                <a:ea typeface="Montserrat Bold"/>
                <a:cs typeface="Montserrat Bold"/>
                <a:sym typeface="Montserrat Bold"/>
              </a:rPr>
              <a:t>ISP-01 – IndiHome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575284" y="7427457"/>
            <a:ext cx="5719087" cy="5719087"/>
          </a:xfrm>
          <a:custGeom>
            <a:avLst/>
            <a:gdLst/>
            <a:ahLst/>
            <a:cxnLst/>
            <a:rect r="r" b="b" t="t" l="l"/>
            <a:pathLst>
              <a:path h="5719087" w="5719087">
                <a:moveTo>
                  <a:pt x="0" y="0"/>
                </a:moveTo>
                <a:lnTo>
                  <a:pt x="5719087" y="0"/>
                </a:lnTo>
                <a:lnTo>
                  <a:pt x="5719087" y="5719086"/>
                </a:lnTo>
                <a:lnTo>
                  <a:pt x="0" y="5719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6544702" y="-543865"/>
            <a:ext cx="6776643" cy="6776643"/>
          </a:xfrm>
          <a:custGeom>
            <a:avLst/>
            <a:gdLst/>
            <a:ahLst/>
            <a:cxnLst/>
            <a:rect r="r" b="b" t="t" l="l"/>
            <a:pathLst>
              <a:path h="6776643" w="6776643">
                <a:moveTo>
                  <a:pt x="0" y="0"/>
                </a:moveTo>
                <a:lnTo>
                  <a:pt x="6776643" y="0"/>
                </a:lnTo>
                <a:lnTo>
                  <a:pt x="6776643" y="6776643"/>
                </a:lnTo>
                <a:lnTo>
                  <a:pt x="0" y="6776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333834" y="2130001"/>
            <a:ext cx="13620333" cy="6026997"/>
          </a:xfrm>
          <a:custGeom>
            <a:avLst/>
            <a:gdLst/>
            <a:ahLst/>
            <a:cxnLst/>
            <a:rect r="r" b="b" t="t" l="l"/>
            <a:pathLst>
              <a:path h="6026997" w="13620333">
                <a:moveTo>
                  <a:pt x="0" y="0"/>
                </a:moveTo>
                <a:lnTo>
                  <a:pt x="13620332" y="0"/>
                </a:lnTo>
                <a:lnTo>
                  <a:pt x="13620332" y="6026998"/>
                </a:lnTo>
                <a:lnTo>
                  <a:pt x="0" y="6026998"/>
                </a:lnTo>
                <a:lnTo>
                  <a:pt x="0" y="0"/>
                </a:lnTo>
                <a:close/>
              </a:path>
            </a:pathLst>
          </a:custGeom>
          <a:blipFill>
            <a:blip r:embed="rId6"/>
            <a:stretch>
              <a:fillRect l="0" t="0" r="0" b="0"/>
            </a:stretch>
          </a:blipFill>
        </p:spPr>
      </p:sp>
      <p:sp>
        <p:nvSpPr>
          <p:cNvPr name="TextBox 8" id="8"/>
          <p:cNvSpPr txBox="true"/>
          <p:nvPr/>
        </p:nvSpPr>
        <p:spPr>
          <a:xfrm rot="0">
            <a:off x="3340773" y="530291"/>
            <a:ext cx="11606455" cy="895759"/>
          </a:xfrm>
          <a:prstGeom prst="rect">
            <a:avLst/>
          </a:prstGeom>
        </p:spPr>
        <p:txBody>
          <a:bodyPr anchor="t" rtlCol="false" tIns="0" lIns="0" bIns="0" rIns="0">
            <a:spAutoFit/>
          </a:bodyPr>
          <a:lstStyle/>
          <a:p>
            <a:pPr algn="ctr">
              <a:lnSpc>
                <a:spcPts val="6788"/>
              </a:lnSpc>
            </a:pPr>
            <a:r>
              <a:rPr lang="en-US" b="true" sz="6788">
                <a:solidFill>
                  <a:srgbClr val="153969"/>
                </a:solidFill>
                <a:latin typeface="Montserrat Bold"/>
                <a:ea typeface="Montserrat Bold"/>
                <a:cs typeface="Montserrat Bold"/>
                <a:sym typeface="Montserrat Bold"/>
              </a:rPr>
              <a:t>Hasil Normalisasi Manual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0">
            <a:off x="-3575284" y="7427457"/>
            <a:ext cx="5719087" cy="5719087"/>
          </a:xfrm>
          <a:custGeom>
            <a:avLst/>
            <a:gdLst/>
            <a:ahLst/>
            <a:cxnLst/>
            <a:rect r="r" b="b" t="t" l="l"/>
            <a:pathLst>
              <a:path h="5719087" w="5719087">
                <a:moveTo>
                  <a:pt x="0" y="0"/>
                </a:moveTo>
                <a:lnTo>
                  <a:pt x="5719087" y="0"/>
                </a:lnTo>
                <a:lnTo>
                  <a:pt x="5719087" y="5719086"/>
                </a:lnTo>
                <a:lnTo>
                  <a:pt x="0" y="571908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413094" y="5092298"/>
            <a:ext cx="4670317" cy="4670317"/>
          </a:xfrm>
          <a:custGeom>
            <a:avLst/>
            <a:gdLst/>
            <a:ahLst/>
            <a:cxnLst/>
            <a:rect r="r" b="b" t="t" l="l"/>
            <a:pathLst>
              <a:path h="4670317" w="4670317">
                <a:moveTo>
                  <a:pt x="0" y="0"/>
                </a:moveTo>
                <a:lnTo>
                  <a:pt x="4670316" y="0"/>
                </a:lnTo>
                <a:lnTo>
                  <a:pt x="4670316" y="4670317"/>
                </a:lnTo>
                <a:lnTo>
                  <a:pt x="0" y="4670317"/>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6544702" y="-543865"/>
            <a:ext cx="6776643" cy="6776643"/>
          </a:xfrm>
          <a:custGeom>
            <a:avLst/>
            <a:gdLst/>
            <a:ahLst/>
            <a:cxnLst/>
            <a:rect r="r" b="b" t="t" l="l"/>
            <a:pathLst>
              <a:path h="6776643" w="6776643">
                <a:moveTo>
                  <a:pt x="0" y="0"/>
                </a:moveTo>
                <a:lnTo>
                  <a:pt x="6776643" y="0"/>
                </a:lnTo>
                <a:lnTo>
                  <a:pt x="6776643" y="6776643"/>
                </a:lnTo>
                <a:lnTo>
                  <a:pt x="0" y="67766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10729465">
            <a:off x="16524609" y="-2001866"/>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10729465">
            <a:off x="1312246" y="-1937822"/>
            <a:ext cx="3875643" cy="3875643"/>
          </a:xfrm>
          <a:custGeom>
            <a:avLst/>
            <a:gdLst/>
            <a:ahLst/>
            <a:cxnLst/>
            <a:rect r="r" b="b" t="t" l="l"/>
            <a:pathLst>
              <a:path h="3875643" w="3875643">
                <a:moveTo>
                  <a:pt x="0" y="0"/>
                </a:moveTo>
                <a:lnTo>
                  <a:pt x="3875643" y="0"/>
                </a:lnTo>
                <a:lnTo>
                  <a:pt x="3875643" y="3875644"/>
                </a:lnTo>
                <a:lnTo>
                  <a:pt x="0" y="387564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261035" y="1917110"/>
            <a:ext cx="13765929" cy="6452779"/>
          </a:xfrm>
          <a:custGeom>
            <a:avLst/>
            <a:gdLst/>
            <a:ahLst/>
            <a:cxnLst/>
            <a:rect r="r" b="b" t="t" l="l"/>
            <a:pathLst>
              <a:path h="6452779" w="13765929">
                <a:moveTo>
                  <a:pt x="0" y="0"/>
                </a:moveTo>
                <a:lnTo>
                  <a:pt x="13765930" y="0"/>
                </a:lnTo>
                <a:lnTo>
                  <a:pt x="13765930" y="6452780"/>
                </a:lnTo>
                <a:lnTo>
                  <a:pt x="0" y="6452780"/>
                </a:lnTo>
                <a:lnTo>
                  <a:pt x="0" y="0"/>
                </a:lnTo>
                <a:close/>
              </a:path>
            </a:pathLst>
          </a:custGeom>
          <a:blipFill>
            <a:blip r:embed="rId6"/>
            <a:stretch>
              <a:fillRect l="0" t="0" r="0" b="0"/>
            </a:stretch>
          </a:blipFill>
        </p:spPr>
      </p:sp>
      <p:sp>
        <p:nvSpPr>
          <p:cNvPr name="TextBox 8" id="8"/>
          <p:cNvSpPr txBox="true"/>
          <p:nvPr/>
        </p:nvSpPr>
        <p:spPr>
          <a:xfrm rot="0">
            <a:off x="3340773" y="530291"/>
            <a:ext cx="11606455" cy="895759"/>
          </a:xfrm>
          <a:prstGeom prst="rect">
            <a:avLst/>
          </a:prstGeom>
        </p:spPr>
        <p:txBody>
          <a:bodyPr anchor="t" rtlCol="false" tIns="0" lIns="0" bIns="0" rIns="0">
            <a:spAutoFit/>
          </a:bodyPr>
          <a:lstStyle/>
          <a:p>
            <a:pPr algn="ctr">
              <a:lnSpc>
                <a:spcPts val="6788"/>
              </a:lnSpc>
            </a:pPr>
            <a:r>
              <a:rPr lang="en-US" b="true" sz="6788">
                <a:solidFill>
                  <a:srgbClr val="153969"/>
                </a:solidFill>
                <a:latin typeface="Montserrat Bold"/>
                <a:ea typeface="Montserrat Bold"/>
                <a:cs typeface="Montserrat Bold"/>
                <a:sym typeface="Montserrat Bold"/>
              </a:rPr>
              <a:t>Hasil Bobot Dan Ranking</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4065637" y="5143500"/>
            <a:ext cx="9334988" cy="9334988"/>
          </a:xfrm>
          <a:custGeom>
            <a:avLst/>
            <a:gdLst/>
            <a:ahLst/>
            <a:cxnLst/>
            <a:rect r="r" b="b" t="t" l="l"/>
            <a:pathLst>
              <a:path h="9334988" w="9334988">
                <a:moveTo>
                  <a:pt x="0" y="0"/>
                </a:moveTo>
                <a:lnTo>
                  <a:pt x="9334988" y="0"/>
                </a:lnTo>
                <a:lnTo>
                  <a:pt x="9334988" y="9334988"/>
                </a:lnTo>
                <a:lnTo>
                  <a:pt x="0" y="93349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996388" y="-941104"/>
            <a:ext cx="10232228" cy="9526205"/>
            <a:chOff x="0" y="0"/>
            <a:chExt cx="6350000" cy="5911850"/>
          </a:xfrm>
        </p:grpSpPr>
        <p:sp>
          <p:nvSpPr>
            <p:cNvPr name="Freeform 4" id="4"/>
            <p:cNvSpPr/>
            <p:nvPr/>
          </p:nvSpPr>
          <p:spPr>
            <a:xfrm flipH="false" flipV="false" rot="0">
              <a:off x="302" y="0"/>
              <a:ext cx="6348428" cy="5911850"/>
            </a:xfrm>
            <a:custGeom>
              <a:avLst/>
              <a:gdLst/>
              <a:ahLst/>
              <a:cxnLst/>
              <a:rect r="r" b="b" t="t" l="l"/>
              <a:pathLst>
                <a:path h="5911850" w="6348428">
                  <a:moveTo>
                    <a:pt x="1146508" y="402590"/>
                  </a:moveTo>
                  <a:lnTo>
                    <a:pt x="108918" y="2192020"/>
                  </a:lnTo>
                  <a:cubicBezTo>
                    <a:pt x="-68882" y="2498090"/>
                    <a:pt x="-25702" y="2884170"/>
                    <a:pt x="214328" y="3144520"/>
                  </a:cubicBezTo>
                  <a:lnTo>
                    <a:pt x="2525728" y="5651500"/>
                  </a:lnTo>
                  <a:cubicBezTo>
                    <a:pt x="2678128" y="5817870"/>
                    <a:pt x="2894028" y="5911850"/>
                    <a:pt x="3118818" y="5911850"/>
                  </a:cubicBezTo>
                  <a:lnTo>
                    <a:pt x="5540708" y="5911850"/>
                  </a:lnTo>
                  <a:cubicBezTo>
                    <a:pt x="5986478" y="5911850"/>
                    <a:pt x="6348428" y="5549900"/>
                    <a:pt x="6348428" y="5104130"/>
                  </a:cubicBezTo>
                  <a:lnTo>
                    <a:pt x="6348428" y="1891030"/>
                  </a:lnTo>
                  <a:cubicBezTo>
                    <a:pt x="6348428" y="1724660"/>
                    <a:pt x="6297628" y="1562100"/>
                    <a:pt x="6201108" y="1426210"/>
                  </a:cubicBezTo>
                  <a:lnTo>
                    <a:pt x="5439108" y="342900"/>
                  </a:lnTo>
                  <a:cubicBezTo>
                    <a:pt x="5287978" y="128270"/>
                    <a:pt x="5041598" y="0"/>
                    <a:pt x="4778708" y="0"/>
                  </a:cubicBezTo>
                  <a:lnTo>
                    <a:pt x="1845008" y="0"/>
                  </a:lnTo>
                  <a:cubicBezTo>
                    <a:pt x="1556718" y="0"/>
                    <a:pt x="1290018" y="153670"/>
                    <a:pt x="1146508" y="402590"/>
                  </a:cubicBezTo>
                  <a:close/>
                </a:path>
              </a:pathLst>
            </a:custGeom>
            <a:blipFill>
              <a:blip r:embed="rId4"/>
              <a:stretch>
                <a:fillRect l="-32592" t="0" r="-32592" b="0"/>
              </a:stretch>
            </a:blipFill>
          </p:spPr>
        </p:sp>
      </p:grpSp>
      <p:sp>
        <p:nvSpPr>
          <p:cNvPr name="Freeform 5" id="5"/>
          <p:cNvSpPr/>
          <p:nvPr/>
        </p:nvSpPr>
        <p:spPr>
          <a:xfrm flipH="false" flipV="false" rot="-10800000">
            <a:off x="14886555" y="-1515059"/>
            <a:ext cx="3702168" cy="3702168"/>
          </a:xfrm>
          <a:custGeom>
            <a:avLst/>
            <a:gdLst/>
            <a:ahLst/>
            <a:cxnLst/>
            <a:rect r="r" b="b" t="t" l="l"/>
            <a:pathLst>
              <a:path h="3702168" w="3702168">
                <a:moveTo>
                  <a:pt x="0" y="0"/>
                </a:moveTo>
                <a:lnTo>
                  <a:pt x="3702168" y="0"/>
                </a:lnTo>
                <a:lnTo>
                  <a:pt x="3702168" y="3702168"/>
                </a:lnTo>
                <a:lnTo>
                  <a:pt x="0" y="370216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729465">
            <a:off x="13033818" y="-1841029"/>
            <a:ext cx="3262282" cy="3262282"/>
          </a:xfrm>
          <a:custGeom>
            <a:avLst/>
            <a:gdLst/>
            <a:ahLst/>
            <a:cxnLst/>
            <a:rect r="r" b="b" t="t" l="l"/>
            <a:pathLst>
              <a:path h="3262282" w="3262282">
                <a:moveTo>
                  <a:pt x="0" y="0"/>
                </a:moveTo>
                <a:lnTo>
                  <a:pt x="3262282" y="0"/>
                </a:lnTo>
                <a:lnTo>
                  <a:pt x="3262282" y="3262282"/>
                </a:lnTo>
                <a:lnTo>
                  <a:pt x="0" y="3262282"/>
                </a:lnTo>
                <a:lnTo>
                  <a:pt x="0" y="0"/>
                </a:lnTo>
                <a:close/>
              </a:path>
            </a:pathLst>
          </a:custGeom>
          <a:blipFill>
            <a:blip r:embed="rId5">
              <a:alphaModFix amt="30000"/>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7775550" y="2978177"/>
            <a:ext cx="9016401" cy="1139825"/>
          </a:xfrm>
          <a:prstGeom prst="rect">
            <a:avLst/>
          </a:prstGeom>
        </p:spPr>
        <p:txBody>
          <a:bodyPr anchor="t" rtlCol="false" tIns="0" lIns="0" bIns="0" rIns="0">
            <a:spAutoFit/>
          </a:bodyPr>
          <a:lstStyle/>
          <a:p>
            <a:pPr algn="ctr">
              <a:lnSpc>
                <a:spcPts val="8800"/>
              </a:lnSpc>
            </a:pPr>
            <a:r>
              <a:rPr lang="en-US" b="true" sz="8000">
                <a:solidFill>
                  <a:srgbClr val="153969"/>
                </a:solidFill>
                <a:latin typeface="Montserrat Bold"/>
                <a:ea typeface="Montserrat Bold"/>
                <a:cs typeface="Montserrat Bold"/>
                <a:sym typeface="Montserrat Bold"/>
              </a:rPr>
              <a:t>Kesimpulan</a:t>
            </a:r>
          </a:p>
        </p:txBody>
      </p:sp>
      <p:sp>
        <p:nvSpPr>
          <p:cNvPr name="TextBox 8" id="8"/>
          <p:cNvSpPr txBox="true"/>
          <p:nvPr/>
        </p:nvSpPr>
        <p:spPr>
          <a:xfrm rot="0">
            <a:off x="7968758" y="4355023"/>
            <a:ext cx="8629986" cy="4903277"/>
          </a:xfrm>
          <a:prstGeom prst="rect">
            <a:avLst/>
          </a:prstGeom>
        </p:spPr>
        <p:txBody>
          <a:bodyPr anchor="t" rtlCol="false" tIns="0" lIns="0" bIns="0" rIns="0">
            <a:spAutoFit/>
          </a:bodyPr>
          <a:lstStyle/>
          <a:p>
            <a:pPr algn="just">
              <a:lnSpc>
                <a:spcPts val="3265"/>
              </a:lnSpc>
              <a:spcBef>
                <a:spcPct val="0"/>
              </a:spcBef>
            </a:pPr>
            <a:r>
              <a:rPr lang="en-US" sz="2332">
                <a:solidFill>
                  <a:srgbClr val="153969"/>
                </a:solidFill>
                <a:latin typeface="Canva Sans"/>
                <a:ea typeface="Canva Sans"/>
                <a:cs typeface="Canva Sans"/>
                <a:sym typeface="Canva Sans"/>
              </a:rPr>
              <a:t>Metode SMART berhasil membantu calon pelanggan memilih provider internet terbaik dengan cara memecah kompleksitas kriteria (harga, kecepatan, kuota, stabilitas, jangkauan, dan layanan) menjadi komponen yang lebih sederhana dan terukur. Hasil perhitungan menunjukkan Biznet Metronet sebagai pilihan terbaik untuk bobot default, meskipun memiliki harga tertinggi. SMART dipilih karena kemampuannya dalam memproses preferensi pengguna secara intuitif dan transparan. Meskipun hasil akhirnya sangat bergantung pada bobot yang ditentukan, sistem ini tetap memberikan rekomendasi yang objektif dan konsisten, tanpa menggantikan keputusan akhir calon pelanggan.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FFCF1"/>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949890" y="-3115172"/>
            <a:ext cx="9450374" cy="9450374"/>
          </a:xfrm>
          <a:custGeom>
            <a:avLst/>
            <a:gdLst/>
            <a:ahLst/>
            <a:cxnLst/>
            <a:rect r="r" b="b" t="t" l="l"/>
            <a:pathLst>
              <a:path h="9450374" w="9450374">
                <a:moveTo>
                  <a:pt x="0" y="0"/>
                </a:moveTo>
                <a:lnTo>
                  <a:pt x="9450374" y="0"/>
                </a:lnTo>
                <a:lnTo>
                  <a:pt x="9450374" y="9450374"/>
                </a:lnTo>
                <a:lnTo>
                  <a:pt x="0" y="945037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729465">
            <a:off x="-1901181" y="2090981"/>
            <a:ext cx="4797613" cy="4797613"/>
          </a:xfrm>
          <a:custGeom>
            <a:avLst/>
            <a:gdLst/>
            <a:ahLst/>
            <a:cxnLst/>
            <a:rect r="r" b="b" t="t" l="l"/>
            <a:pathLst>
              <a:path h="4797613" w="4797613">
                <a:moveTo>
                  <a:pt x="0" y="0"/>
                </a:moveTo>
                <a:lnTo>
                  <a:pt x="4797614" y="0"/>
                </a:lnTo>
                <a:lnTo>
                  <a:pt x="4797614" y="4797613"/>
                </a:lnTo>
                <a:lnTo>
                  <a:pt x="0" y="4797613"/>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729465">
            <a:off x="14351368" y="7888193"/>
            <a:ext cx="4797613" cy="4797613"/>
          </a:xfrm>
          <a:custGeom>
            <a:avLst/>
            <a:gdLst/>
            <a:ahLst/>
            <a:cxnLst/>
            <a:rect r="r" b="b" t="t" l="l"/>
            <a:pathLst>
              <a:path h="4797613" w="4797613">
                <a:moveTo>
                  <a:pt x="0" y="0"/>
                </a:moveTo>
                <a:lnTo>
                  <a:pt x="4797613" y="0"/>
                </a:lnTo>
                <a:lnTo>
                  <a:pt x="4797613"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0729465">
            <a:off x="14677280" y="-3236308"/>
            <a:ext cx="4797613" cy="4797613"/>
          </a:xfrm>
          <a:custGeom>
            <a:avLst/>
            <a:gdLst/>
            <a:ahLst/>
            <a:cxnLst/>
            <a:rect r="r" b="b" t="t" l="l"/>
            <a:pathLst>
              <a:path h="4797613" w="4797613">
                <a:moveTo>
                  <a:pt x="0" y="0"/>
                </a:moveTo>
                <a:lnTo>
                  <a:pt x="4797614" y="0"/>
                </a:lnTo>
                <a:lnTo>
                  <a:pt x="4797614" y="4797614"/>
                </a:lnTo>
                <a:lnTo>
                  <a:pt x="0" y="4797614"/>
                </a:lnTo>
                <a:lnTo>
                  <a:pt x="0" y="0"/>
                </a:lnTo>
                <a:close/>
              </a:path>
            </a:pathLst>
          </a:custGeom>
          <a:blipFill>
            <a:blip r:embed="rId4">
              <a:alphaModFix amt="30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7914095" y="3505200"/>
            <a:ext cx="8034678" cy="3390900"/>
          </a:xfrm>
          <a:prstGeom prst="rect">
            <a:avLst/>
          </a:prstGeom>
        </p:spPr>
        <p:txBody>
          <a:bodyPr anchor="t" rtlCol="false" tIns="0" lIns="0" bIns="0" rIns="0">
            <a:spAutoFit/>
          </a:bodyPr>
          <a:lstStyle/>
          <a:p>
            <a:pPr algn="ctr">
              <a:lnSpc>
                <a:spcPts val="13200"/>
              </a:lnSpc>
            </a:pPr>
            <a:r>
              <a:rPr lang="en-US" b="true" sz="12000">
                <a:solidFill>
                  <a:srgbClr val="153969"/>
                </a:solidFill>
                <a:latin typeface="Montserrat Bold"/>
                <a:ea typeface="Montserrat Bold"/>
                <a:cs typeface="Montserrat Bold"/>
                <a:sym typeface="Montserrat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DAHH8iBaPug</dc:identifier>
  <dcterms:modified xsi:type="dcterms:W3CDTF">2011-08-01T06:04:30Z</dcterms:modified>
  <cp:revision>1</cp:revision>
  <dc:title>SPK - KELOMPOK 7</dc:title>
</cp:coreProperties>
</file>